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8911" y="1205422"/>
            <a:ext cx="3674784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 spc="43">
                <a:solidFill>
                  <a:srgbClr val="2A6FB0"/>
                </a:solidFill>
                <a:latin typeface="JetBrains Mono"/>
              </a:rPr>
              <a:t>50 Ω stranded micro-coax · cryostat 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8911" y="1481358"/>
            <a:ext cx="7974813" cy="5368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450" b="1" i="0" spc="-69">
                <a:solidFill>
                  <a:srgbClr val="161B24"/>
                </a:solidFill>
                <a:latin typeface="Inter"/>
              </a:rPr>
              <a:t>Insertion Loss &amp; Heat-Load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911" y="2166918"/>
            <a:ext cx="7565229" cy="2191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7" b="0" i="0">
                <a:solidFill>
                  <a:srgbClr val="4A5263"/>
                </a:solidFill>
                <a:latin typeface="Inter"/>
              </a:rPr>
              <a:t>Hard numbers for RF insertion loss and conducted heat load of two candidate micro-coax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911" y="2434980"/>
            <a:ext cx="4626257" cy="2191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7" b="0" i="0">
                <a:solidFill>
                  <a:srgbClr val="4A5263"/>
                </a:solidFill>
                <a:latin typeface="Inter"/>
              </a:rPr>
              <a:t>cables, at assembly lengths of </a:t>
            </a:r>
            <a:r>
              <a:rPr sz="1407" b="1" i="0">
                <a:solidFill>
                  <a:srgbClr val="161B24"/>
                </a:solidFill>
                <a:latin typeface="Inter"/>
              </a:rPr>
              <a:t>3″, 5″, 10″, 15″ and 18″</a:t>
            </a:r>
            <a:r>
              <a:rPr sz="1407" b="0" i="0">
                <a:solidFill>
                  <a:srgbClr val="4A5263"/>
                </a:solidFill>
                <a:latin typeface="Inter"/>
              </a:rPr>
              <a:t>.</a:t>
            </a:r>
          </a:p>
        </p:txBody>
      </p:sp>
      <p:grpSp>
        <p:nvGrpSpPr>
          <p:cNvPr id="6" name="Cable spec card"/>
          <p:cNvGrpSpPr/>
          <p:nvPr/>
        </p:nvGrpSpPr>
        <p:grpSpPr>
          <a:xfrm>
            <a:off x="618911" y="2996609"/>
            <a:ext cx="5354368" cy="1828503"/>
            <a:chOff x="618911" y="2996609"/>
            <a:chExt cx="5354368" cy="1828503"/>
          </a:xfrm>
        </p:grpSpPr>
        <p:sp>
          <p:nvSpPr>
            <p:cNvPr id="7" name="Rounded Rectangle 6"/>
            <p:cNvSpPr/>
            <p:nvPr/>
          </p:nvSpPr>
          <p:spPr>
            <a:xfrm>
              <a:off x="618911" y="2996609"/>
              <a:ext cx="5354368" cy="1828503"/>
            </a:xfrm>
            <a:prstGeom prst="roundRect">
              <a:avLst>
                <a:gd name="adj" fmla="val 5991"/>
              </a:avLst>
            </a:prstGeom>
            <a:solidFill>
              <a:srgbClr val="F7F9FC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18911" y="3045908"/>
              <a:ext cx="32863" cy="1729906"/>
            </a:xfrm>
            <a:prstGeom prst="rect">
              <a:avLst/>
            </a:prstGeom>
            <a:solidFill>
              <a:srgbClr val="2A6F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9586" y="3200309"/>
              <a:ext cx="1757461" cy="21910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49" b="1" i="0">
                  <a:solidFill>
                    <a:srgbClr val="2A6FB0"/>
                  </a:solidFill>
                  <a:latin typeface="Inter"/>
                </a:rPr>
                <a:t>Samtec TCF-3450F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79586" y="3482920"/>
              <a:ext cx="4157624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48" b="0" i="0">
                  <a:solidFill>
                    <a:srgbClr val="4A5263"/>
                  </a:solidFill>
                  <a:latin typeface="Inter"/>
                </a:rPr>
                <a:t>34 AWG (7×42) SPC / FEP-foam / 46 AWG SPC serve shield, 50 Ω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79586" y="3922672"/>
              <a:ext cx="168420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0" i="0">
                  <a:solidFill>
                    <a:srgbClr val="8A93A6"/>
                  </a:solidFill>
                  <a:latin typeface="JetBrains Mono"/>
                </a:rPr>
                <a:t>Z₀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29593" y="3922672"/>
              <a:ext cx="504919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1" i="0">
                  <a:solidFill>
                    <a:srgbClr val="161B24"/>
                  </a:solidFill>
                  <a:latin typeface="JetBrains Mono"/>
                </a:rPr>
                <a:t>50.5 Ω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79586" y="4178923"/>
              <a:ext cx="673168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0" i="0">
                  <a:solidFill>
                    <a:srgbClr val="8A93A6"/>
                  </a:solidFill>
                  <a:latin typeface="JetBrains Mono"/>
                </a:rPr>
                <a:t>Cable OD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20097" y="4178923"/>
              <a:ext cx="1514415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1" i="0">
                  <a:solidFill>
                    <a:srgbClr val="161B24"/>
                  </a:solidFill>
                  <a:latin typeface="JetBrains Mono"/>
                </a:rPr>
                <a:t>0.56 mm · 22.1 mil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79586" y="4435173"/>
              <a:ext cx="757208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0" i="0">
                  <a:solidFill>
                    <a:srgbClr val="8A93A6"/>
                  </a:solidFill>
                  <a:latin typeface="JetBrains Mono"/>
                </a:rPr>
                <a:t>α @ 2 GHz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93094" y="4435173"/>
              <a:ext cx="841418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1" i="0">
                  <a:solidFill>
                    <a:srgbClr val="161B24"/>
                  </a:solidFill>
                  <a:latin typeface="JetBrains Mono"/>
                </a:rPr>
                <a:t>0.637 dB/m</a:t>
              </a:r>
            </a:p>
          </p:txBody>
        </p:sp>
      </p:grpSp>
      <p:grpSp>
        <p:nvGrpSpPr>
          <p:cNvPr id="17" name="Cable spec card"/>
          <p:cNvGrpSpPr/>
          <p:nvPr/>
        </p:nvGrpSpPr>
        <p:grpSpPr>
          <a:xfrm>
            <a:off x="6218550" y="2996609"/>
            <a:ext cx="5354539" cy="1828503"/>
            <a:chOff x="6218550" y="2996609"/>
            <a:chExt cx="5354539" cy="1828503"/>
          </a:xfrm>
        </p:grpSpPr>
        <p:sp>
          <p:nvSpPr>
            <p:cNvPr id="18" name="Rounded Rectangle 17"/>
            <p:cNvSpPr/>
            <p:nvPr/>
          </p:nvSpPr>
          <p:spPr>
            <a:xfrm>
              <a:off x="6218550" y="2996609"/>
              <a:ext cx="5354539" cy="1828503"/>
            </a:xfrm>
            <a:prstGeom prst="roundRect">
              <a:avLst>
                <a:gd name="adj" fmla="val 5991"/>
              </a:avLst>
            </a:prstGeom>
            <a:solidFill>
              <a:srgbClr val="F7F9FC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218550" y="3045908"/>
              <a:ext cx="32863" cy="172990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79225" y="3200309"/>
              <a:ext cx="2265461" cy="21910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449" b="1" i="0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79225" y="3482920"/>
              <a:ext cx="4478718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48" b="0" i="0">
                  <a:solidFill>
                    <a:srgbClr val="4A5263"/>
                  </a:solidFill>
                  <a:latin typeface="Inter"/>
                </a:rPr>
                <a:t>34 AWG (7×42) C27000 brass / PFA / 44 AWG brass spiral shield, 50 Ω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79225" y="3922672"/>
              <a:ext cx="168420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0" i="0">
                  <a:solidFill>
                    <a:srgbClr val="8A93A6"/>
                  </a:solidFill>
                  <a:latin typeface="JetBrains Mono"/>
                </a:rPr>
                <a:t>Z₀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829403" y="3922672"/>
              <a:ext cx="504919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1" i="0">
                  <a:solidFill>
                    <a:srgbClr val="161B24"/>
                  </a:solidFill>
                  <a:latin typeface="JetBrains Mono"/>
                </a:rPr>
                <a:t>49.8 Ω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79225" y="4178923"/>
              <a:ext cx="673168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0" i="0">
                  <a:solidFill>
                    <a:srgbClr val="8A93A6"/>
                  </a:solidFill>
                  <a:latin typeface="JetBrains Mono"/>
                </a:rPr>
                <a:t>Cable OD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819907" y="4178923"/>
              <a:ext cx="1514415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1" i="0">
                  <a:solidFill>
                    <a:srgbClr val="161B24"/>
                  </a:solidFill>
                  <a:latin typeface="JetBrains Mono"/>
                </a:rPr>
                <a:t>0.71 mm · 28.0 mil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79225" y="4435173"/>
              <a:ext cx="757208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0" i="0">
                  <a:solidFill>
                    <a:srgbClr val="8A93A6"/>
                  </a:solidFill>
                  <a:latin typeface="JetBrains Mono"/>
                </a:rPr>
                <a:t>α @ 2 GHz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577115" y="4435173"/>
              <a:ext cx="757208" cy="1862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04" b="1" i="0">
                  <a:solidFill>
                    <a:srgbClr val="161B24"/>
                  </a:solidFill>
                  <a:latin typeface="JetBrains Mono"/>
                </a:rPr>
                <a:t>4.39 dB/m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618911" y="5140590"/>
            <a:ext cx="10954178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911" y="5320154"/>
            <a:ext cx="10827349" cy="1643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JetBrains Mono"/>
              </a:rPr>
              <a:t>RF model: Pozar conductor loss + dielectric loss, with per-conductor stranding factor K_s calibrated to the TCF-3450F insertion-loss curve (1–4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11" y="5509303"/>
            <a:ext cx="9616399" cy="1643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JetBrains Mono"/>
              </a:rPr>
              <a:t>GHz). Heat load: steady-state conduction across each cryostat stage's ΔT, with lay-angle path corrections. Use ← → to navigate.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11356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CABLE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2698322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3″ assembly · 76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2A6F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1941970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2A6FB0"/>
                  </a:solidFill>
                  <a:latin typeface="Inter"/>
                </a:rPr>
                <a:t>Samtec TCF-3450F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45707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SPC / FEP-foam / 46 AWG SPC serve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samtec_tcf_3450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50.5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0.56 mm · 22.1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530237" y="3377134"/>
                <a:ext cx="972868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0.049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45854" y="381962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0.069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552057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9480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32" name="Metric row"/>
            <p:cNvGrpSpPr/>
            <p:nvPr/>
          </p:nvGrpSpPr>
          <p:grpSpPr>
            <a:xfrm>
              <a:off x="729480" y="4487553"/>
              <a:ext cx="4969945" cy="427256"/>
              <a:chOff x="729480" y="4487553"/>
              <a:chExt cx="4969945" cy="427256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29480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724845" y="4487553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35.3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52057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36" name="Metric row"/>
            <p:cNvGrpSpPr/>
            <p:nvPr/>
          </p:nvGrpSpPr>
          <p:grpSpPr>
            <a:xfrm>
              <a:off x="729480" y="4930043"/>
              <a:ext cx="4969945" cy="284837"/>
              <a:chOff x="729480" y="4930043"/>
              <a:chExt cx="4969945" cy="284837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729480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108755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566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552057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grpSp>
        <p:nvGrpSpPr>
          <p:cNvPr id="40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1" name="Rounded Rectangle 40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92404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46" name="Picture 45" descr="xsec_new_n12_42m_100006_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7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1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92404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57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6492404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0293333" y="3377134"/>
                <a:ext cx="972868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0.335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1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6492404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0608950" y="381962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0.475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11315152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92404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67" name="Metric row"/>
            <p:cNvGrpSpPr/>
            <p:nvPr/>
          </p:nvGrpSpPr>
          <p:grpSpPr>
            <a:xfrm>
              <a:off x="6492404" y="4487553"/>
              <a:ext cx="4970116" cy="427256"/>
              <a:chOff x="6492404" y="4487553"/>
              <a:chExt cx="4970116" cy="427256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6492404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0682549" y="4487553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533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1315152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71" name="Metric row"/>
            <p:cNvGrpSpPr/>
            <p:nvPr/>
          </p:nvGrpSpPr>
          <p:grpSpPr>
            <a:xfrm>
              <a:off x="6492404" y="4930043"/>
              <a:ext cx="4970116" cy="284837"/>
              <a:chOff x="6492404" y="4930043"/>
              <a:chExt cx="4970116" cy="284837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6492404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10871850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5.1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1315152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3552919" y="5752031"/>
            <a:ext cx="5085991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6.9× lower loss · </a:t>
            </a:r>
            <a:r>
              <a:rPr sz="1076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66× lower heat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625" y="6258028"/>
            <a:ext cx="11101375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RF insertion loss = total α(f)·L at the 4–40 K stage (T̄ ≈ 22 K), conductor + dielectric. Heat load = steady-state conduction Q̇ across each stage's ΔT, per cable. Model: Pozar α_c with per-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625" y="6440844"/>
            <a:ext cx="586356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conductor stranding factor K_s (calibrated to the TCF-3450F IL curve, 1–4 GHz). Both cables 50 Ω.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11356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CABLE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2803927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5″ assembly · 127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2A6F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1941970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2A6FB0"/>
                  </a:solidFill>
                  <a:latin typeface="Inter"/>
                </a:rPr>
                <a:t>Samtec TCF-3450F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45707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SPC / FEP-foam / 46 AWG SPC serve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samtec_tcf_3450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50.5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0.56 mm · 22.1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530237" y="3377134"/>
                <a:ext cx="972868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0.081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45854" y="381962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0.115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552057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9480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32" name="Metric row"/>
            <p:cNvGrpSpPr/>
            <p:nvPr/>
          </p:nvGrpSpPr>
          <p:grpSpPr>
            <a:xfrm>
              <a:off x="729480" y="4487553"/>
              <a:ext cx="4969945" cy="427256"/>
              <a:chOff x="729480" y="4487553"/>
              <a:chExt cx="4969945" cy="427256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29480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724845" y="4487553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21.2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52057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36" name="Metric row"/>
            <p:cNvGrpSpPr/>
            <p:nvPr/>
          </p:nvGrpSpPr>
          <p:grpSpPr>
            <a:xfrm>
              <a:off x="729480" y="4930043"/>
              <a:ext cx="4969945" cy="284837"/>
              <a:chOff x="729480" y="4930043"/>
              <a:chExt cx="4969945" cy="284837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729480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108755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339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552057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grpSp>
        <p:nvGrpSpPr>
          <p:cNvPr id="40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1" name="Rounded Rectangle 40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92404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46" name="Picture 45" descr="xsec_new_n12_42m_100006_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7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1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92404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57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6492404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0293333" y="3377134"/>
                <a:ext cx="972868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0.558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1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6492404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0608950" y="381962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0.791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11315152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92404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67" name="Metric row"/>
            <p:cNvGrpSpPr/>
            <p:nvPr/>
          </p:nvGrpSpPr>
          <p:grpSpPr>
            <a:xfrm>
              <a:off x="6492404" y="4487553"/>
              <a:ext cx="4970116" cy="427256"/>
              <a:chOff x="6492404" y="4487553"/>
              <a:chExt cx="4970116" cy="427256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6492404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0682549" y="4487553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320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1315152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71" name="Metric row"/>
            <p:cNvGrpSpPr/>
            <p:nvPr/>
          </p:nvGrpSpPr>
          <p:grpSpPr>
            <a:xfrm>
              <a:off x="6492404" y="4930043"/>
              <a:ext cx="4970116" cy="284837"/>
              <a:chOff x="6492404" y="4930043"/>
              <a:chExt cx="4970116" cy="284837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6492404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10871850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3.1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1315152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3552919" y="5752031"/>
            <a:ext cx="5085991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6.9× lower loss · </a:t>
            </a:r>
            <a:r>
              <a:rPr sz="1076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66× lower heat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625" y="6258028"/>
            <a:ext cx="11101375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RF insertion loss = total α(f)·L at the 4–40 K stage (T̄ ≈ 22 K), conductor + dielectric. Heat load = steady-state conduction Q̇ across each stage's ΔT, per cable. Model: Pozar α_c with per-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625" y="6440844"/>
            <a:ext cx="586356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conductor stranding factor K_s (calibrated to the TCF-3450F IL curve, 1–4 GHz). Both cables 50 Ω.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11356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CABLE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3004697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10″ assembly · 254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2A6F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1941970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2A6FB0"/>
                  </a:solidFill>
                  <a:latin typeface="Inter"/>
                </a:rPr>
                <a:t>Samtec TCF-3450F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45707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SPC / FEP-foam / 46 AWG SPC serve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samtec_tcf_3450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50.5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0.56 mm · 22.1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530237" y="3377134"/>
                <a:ext cx="972868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0.162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45854" y="381962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0.230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552057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9480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32" name="Metric row"/>
            <p:cNvGrpSpPr/>
            <p:nvPr/>
          </p:nvGrpSpPr>
          <p:grpSpPr>
            <a:xfrm>
              <a:off x="729480" y="4487553"/>
              <a:ext cx="4969945" cy="427256"/>
              <a:chOff x="729480" y="4487553"/>
              <a:chExt cx="4969945" cy="427256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29480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724845" y="4487553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10.6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52057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36" name="Metric row"/>
            <p:cNvGrpSpPr/>
            <p:nvPr/>
          </p:nvGrpSpPr>
          <p:grpSpPr>
            <a:xfrm>
              <a:off x="729480" y="4930043"/>
              <a:ext cx="4969945" cy="284837"/>
              <a:chOff x="729480" y="4930043"/>
              <a:chExt cx="4969945" cy="284837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729480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108755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170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552057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grpSp>
        <p:nvGrpSpPr>
          <p:cNvPr id="40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1" name="Rounded Rectangle 40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92404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46" name="Picture 45" descr="xsec_new_n12_42m_100006_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7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1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92404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57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6492404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0487941" y="3377134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1.12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1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6492404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0740400" y="3819624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1.58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11315152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92404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67" name="Metric row"/>
            <p:cNvGrpSpPr/>
            <p:nvPr/>
          </p:nvGrpSpPr>
          <p:grpSpPr>
            <a:xfrm>
              <a:off x="6492404" y="4487553"/>
              <a:ext cx="4970116" cy="427256"/>
              <a:chOff x="6492404" y="4487553"/>
              <a:chExt cx="4970116" cy="427256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6492404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0682549" y="4487553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160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1315152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71" name="Metric row"/>
            <p:cNvGrpSpPr/>
            <p:nvPr/>
          </p:nvGrpSpPr>
          <p:grpSpPr>
            <a:xfrm>
              <a:off x="6492404" y="4930043"/>
              <a:ext cx="4970116" cy="284837"/>
              <a:chOff x="6492404" y="4930043"/>
              <a:chExt cx="4970116" cy="284837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6492404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10871850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1.5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1315152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3552919" y="5752031"/>
            <a:ext cx="5085991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6.9× lower loss · </a:t>
            </a:r>
            <a:r>
              <a:rPr sz="1076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66× lower heat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625" y="6258028"/>
            <a:ext cx="11101375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RF insertion loss = total α(f)·L at the 4–40 K stage (T̄ ≈ 22 K), conductor + dielectric. Heat load = steady-state conduction Q̇ across each stage's ΔT, per cable. Model: Pozar α_c with per-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625" y="6440844"/>
            <a:ext cx="586356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conductor stranding factor K_s (calibrated to the TCF-3450F IL curve, 1–4 GHz). Both cables 50 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11356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CABLE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2936918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15″ assembly · 381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2A6F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1941970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2A6FB0"/>
                  </a:solidFill>
                  <a:latin typeface="Inter"/>
                </a:rPr>
                <a:t>Samtec TCF-3450F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45707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SPC / FEP-foam / 46 AWG SPC serve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samtec_tcf_3450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50.5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0.56 mm · 22.1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530237" y="3377134"/>
                <a:ext cx="972868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0.243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45854" y="381962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0.346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552057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9480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32" name="Metric row"/>
            <p:cNvGrpSpPr/>
            <p:nvPr/>
          </p:nvGrpSpPr>
          <p:grpSpPr>
            <a:xfrm>
              <a:off x="729480" y="4487553"/>
              <a:ext cx="4969945" cy="427256"/>
              <a:chOff x="729480" y="4487553"/>
              <a:chExt cx="4969945" cy="427256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29480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724845" y="4487553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7.07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52057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36" name="Metric row"/>
            <p:cNvGrpSpPr/>
            <p:nvPr/>
          </p:nvGrpSpPr>
          <p:grpSpPr>
            <a:xfrm>
              <a:off x="729480" y="4930043"/>
              <a:ext cx="4969945" cy="284837"/>
              <a:chOff x="729480" y="4930043"/>
              <a:chExt cx="4969945" cy="284837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729480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108755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113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552057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grpSp>
        <p:nvGrpSpPr>
          <p:cNvPr id="40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1" name="Rounded Rectangle 40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92404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46" name="Picture 45" descr="xsec_new_n12_42m_100006_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7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1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92404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57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6492404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0487941" y="3377134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1.67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1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6492404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0740400" y="3819624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2.37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11315152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92404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67" name="Metric row"/>
            <p:cNvGrpSpPr/>
            <p:nvPr/>
          </p:nvGrpSpPr>
          <p:grpSpPr>
            <a:xfrm>
              <a:off x="6492404" y="4487553"/>
              <a:ext cx="4970116" cy="427256"/>
              <a:chOff x="6492404" y="4487553"/>
              <a:chExt cx="4970116" cy="427256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6492404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0682549" y="4487553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107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1315152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71" name="Metric row"/>
            <p:cNvGrpSpPr/>
            <p:nvPr/>
          </p:nvGrpSpPr>
          <p:grpSpPr>
            <a:xfrm>
              <a:off x="6492404" y="4930043"/>
              <a:ext cx="4970116" cy="284837"/>
              <a:chOff x="6492404" y="4930043"/>
              <a:chExt cx="4970116" cy="284837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6492404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10871850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1.0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1315152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3552919" y="5752031"/>
            <a:ext cx="5085991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6.9× lower loss · </a:t>
            </a:r>
            <a:r>
              <a:rPr sz="1076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66× lower heat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625" y="6258028"/>
            <a:ext cx="11101375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RF insertion loss = total α(f)·L at the 4–40 K stage (T̄ ≈ 22 K), conductor + dielectric. Heat load = steady-state conduction Q̇ across each stage's ΔT, per cable. Model: Pozar α_c with per-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625" y="6440844"/>
            <a:ext cx="586356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conductor stranding factor K_s (calibrated to the TCF-3450F IL curve, 1–4 GHz). Both cables 50 Ω.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11356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CABLE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2986725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18″ assembly · 457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2A6FB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1941970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2A6FB0"/>
                  </a:solidFill>
                  <a:latin typeface="Inter"/>
                </a:rPr>
                <a:t>Samtec TCF-3450F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45707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SPC / FEP-foam / 46 AWG SPC serve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samtec_tcf_3450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50.5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0.56 mm · 22.1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530237" y="3377134"/>
                <a:ext cx="972868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0.291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45854" y="381962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0.415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552057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9480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32" name="Metric row"/>
            <p:cNvGrpSpPr/>
            <p:nvPr/>
          </p:nvGrpSpPr>
          <p:grpSpPr>
            <a:xfrm>
              <a:off x="729480" y="4487553"/>
              <a:ext cx="4969945" cy="427256"/>
              <a:chOff x="729480" y="4487553"/>
              <a:chExt cx="4969945" cy="427256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729480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724845" y="4487553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5.89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52057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36" name="Metric row"/>
            <p:cNvGrpSpPr/>
            <p:nvPr/>
          </p:nvGrpSpPr>
          <p:grpSpPr>
            <a:xfrm>
              <a:off x="729480" y="4930043"/>
              <a:ext cx="4969945" cy="284837"/>
              <a:chOff x="729480" y="4930043"/>
              <a:chExt cx="4969945" cy="284837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729480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240205" y="4930043"/>
                <a:ext cx="26290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94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552057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grpSp>
        <p:nvGrpSpPr>
          <p:cNvPr id="40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1" name="Rounded Rectangle 40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92404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46" name="Picture 45" descr="xsec_new_n12_42m_100006_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7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8" name="Rounded Rectangle 47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1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92404" y="317565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57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8" name="TextBox 57"/>
              <p:cNvSpPr txBox="1"/>
              <p:nvPr/>
            </p:nvSpPr>
            <p:spPr>
              <a:xfrm>
                <a:off x="6492404" y="356337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0487941" y="3377134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2.01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1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2" name="TextBox 61"/>
              <p:cNvSpPr txBox="1"/>
              <p:nvPr/>
            </p:nvSpPr>
            <p:spPr>
              <a:xfrm>
                <a:off x="6492404" y="389631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0740400" y="3819624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2.85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11315152" y="391822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92404" y="4286079"/>
              <a:ext cx="2505939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PER CABLE</a:t>
              </a:r>
            </a:p>
          </p:txBody>
        </p:sp>
        <p:grpSp>
          <p:nvGrpSpPr>
            <p:cNvPr id="67" name="Metric row"/>
            <p:cNvGrpSpPr/>
            <p:nvPr/>
          </p:nvGrpSpPr>
          <p:grpSpPr>
            <a:xfrm>
              <a:off x="6492404" y="4487553"/>
              <a:ext cx="4970116" cy="427256"/>
              <a:chOff x="6492404" y="4487553"/>
              <a:chExt cx="4970116" cy="427256"/>
            </a:xfrm>
          </p:grpSpPr>
          <p:sp>
            <p:nvSpPr>
              <p:cNvPr id="68" name="TextBox 67"/>
              <p:cNvSpPr txBox="1"/>
              <p:nvPr/>
            </p:nvSpPr>
            <p:spPr>
              <a:xfrm>
                <a:off x="6492404" y="4673793"/>
                <a:ext cx="86264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40 K → 4 K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10876985" y="4487553"/>
                <a:ext cx="389216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89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11315152" y="4695703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71" name="Metric row"/>
            <p:cNvGrpSpPr/>
            <p:nvPr/>
          </p:nvGrpSpPr>
          <p:grpSpPr>
            <a:xfrm>
              <a:off x="6492404" y="4930043"/>
              <a:ext cx="4970116" cy="284837"/>
              <a:chOff x="6492404" y="4930043"/>
              <a:chExt cx="4970116" cy="284837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6492404" y="5006730"/>
                <a:ext cx="776377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K → 1 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10871850" y="4930043"/>
                <a:ext cx="394350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0.8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1315152" y="502864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</p:grpSp>
      <p:sp>
        <p:nvSpPr>
          <p:cNvPr id="75" name="TextBox 74"/>
          <p:cNvSpPr txBox="1"/>
          <p:nvPr/>
        </p:nvSpPr>
        <p:spPr>
          <a:xfrm>
            <a:off x="3552919" y="5752031"/>
            <a:ext cx="5085991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2A6FB0"/>
                </a:solidFill>
                <a:latin typeface="JetBrains Mono"/>
              </a:rPr>
              <a:t>TCF-3450F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6.9× lower loss · </a:t>
            </a:r>
            <a:r>
              <a:rPr sz="1076" b="1" i="0">
                <a:solidFill>
                  <a:srgbClr val="B9701A"/>
                </a:solidFill>
                <a:latin typeface="JetBrains Mono"/>
              </a:rPr>
              <a:t>N12-42M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66× lower heat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5625" y="6258028"/>
            <a:ext cx="11101375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RF insertion loss = total α(f)·L at the 4–40 K stage (T̄ ≈ 22 K), conductor + dielectric. Heat load = steady-state conduction Q̇ across each stage's ΔT, per cable. Model: Pozar α_c with per-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5625" y="6440844"/>
            <a:ext cx="586356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conductor stranding factor K_s (calibrated to the TCF-3450F IL curve, 1–4 GHz). Both cables 50 Ω.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77021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2820872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All lengths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135" y="2690717"/>
            <a:ext cx="549420" cy="1971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9" b="1" i="0">
                <a:solidFill>
                  <a:srgbClr val="8A93A6"/>
                </a:solidFill>
                <a:latin typeface="Inter"/>
              </a:rPr>
              <a:t>Length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4236" y="2405196"/>
            <a:ext cx="5234728" cy="21911"/>
          </a:xfrm>
          <a:prstGeom prst="rect">
            <a:avLst/>
          </a:prstGeom>
          <a:solidFill>
            <a:srgbClr val="2A6FB0">
              <a:alpha val="3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21213" y="2113854"/>
            <a:ext cx="1540774" cy="1971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9" b="1" i="0">
                <a:solidFill>
                  <a:srgbClr val="2A6FB0"/>
                </a:solidFill>
                <a:latin typeface="Inter"/>
              </a:rPr>
              <a:t>Samtec TCF-3450F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8964" y="2405196"/>
            <a:ext cx="5127411" cy="21911"/>
          </a:xfrm>
          <a:prstGeom prst="rect">
            <a:avLst/>
          </a:prstGeom>
          <a:solidFill>
            <a:srgbClr val="B9701A">
              <a:alpha val="3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9519" y="2113854"/>
            <a:ext cx="1986129" cy="1971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9" b="1" i="0">
                <a:solidFill>
                  <a:srgbClr val="B9701A"/>
                </a:solidFill>
                <a:latin typeface="Inter"/>
              </a:rPr>
              <a:t>NEW N12-42M-100006-1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7212" y="2664527"/>
            <a:ext cx="290970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28" b="1" i="0" spc="33">
                <a:solidFill>
                  <a:srgbClr val="4A5263"/>
                </a:solidFill>
                <a:latin typeface="Inter"/>
              </a:rPr>
              <a:t>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9753" y="2802495"/>
            <a:ext cx="308429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28" b="0" i="0">
                <a:solidFill>
                  <a:srgbClr val="8A93A6"/>
                </a:solidFill>
                <a:latin typeface="Inter"/>
              </a:rPr>
              <a:t>2 GHz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6682" y="2508072"/>
            <a:ext cx="726912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28" b="1" i="0" spc="33">
                <a:solidFill>
                  <a:srgbClr val="8A93A6"/>
                </a:solidFill>
                <a:latin typeface="Inter"/>
              </a:rPr>
              <a:t>Q̇ PER CABLE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003" y="2427106"/>
            <a:ext cx="2201961" cy="271485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2594" y="2508072"/>
            <a:ext cx="1605129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28" b="1" i="0" spc="33">
                <a:solidFill>
                  <a:srgbClr val="4A5263"/>
                </a:solidFill>
                <a:latin typeface="Inter"/>
              </a:rPr>
              <a:t>208 (13 CABLES OF 16 LINES)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8964" y="2427106"/>
            <a:ext cx="10954" cy="56590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2966" y="2664527"/>
            <a:ext cx="290970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28" b="1" i="0" spc="33">
                <a:solidFill>
                  <a:srgbClr val="4A5263"/>
                </a:solidFill>
                <a:latin typeface="Inter"/>
              </a:rPr>
              <a:t>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508" y="2802495"/>
            <a:ext cx="308429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28" b="0" i="0">
                <a:solidFill>
                  <a:srgbClr val="8A93A6"/>
                </a:solidFill>
                <a:latin typeface="Inter"/>
              </a:rPr>
              <a:t>2 GHz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827" y="2508072"/>
            <a:ext cx="726912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28" b="1" i="0" spc="33">
                <a:solidFill>
                  <a:srgbClr val="8A93A6"/>
                </a:solidFill>
                <a:latin typeface="Inter"/>
              </a:rPr>
              <a:t>Q̇ PER CABLE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0233" y="2427106"/>
            <a:ext cx="2196142" cy="271485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35654" y="2508072"/>
            <a:ext cx="1605129" cy="1205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28" b="1" i="0" spc="33">
                <a:solidFill>
                  <a:srgbClr val="4A5263"/>
                </a:solidFill>
                <a:latin typeface="Inter"/>
              </a:rPr>
              <a:t>208 (13 CABLES OF 16 LINES)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3274" y="2982059"/>
            <a:ext cx="1010865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2566" y="2777333"/>
            <a:ext cx="456481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40→4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4139" y="2982059"/>
            <a:ext cx="902864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179" y="2777333"/>
            <a:ext cx="351732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4→1 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003" y="2698592"/>
            <a:ext cx="979885" cy="294423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003" y="2982059"/>
            <a:ext cx="979885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5315" y="2777333"/>
            <a:ext cx="456481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40→4 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86888" y="2698592"/>
            <a:ext cx="1222075" cy="294423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86888" y="2982059"/>
            <a:ext cx="1222075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6663" y="2777333"/>
            <a:ext cx="351732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4→1 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34505" y="2982059"/>
            <a:ext cx="902864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34505" y="2698592"/>
            <a:ext cx="10954" cy="294423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5796" y="2777333"/>
            <a:ext cx="456481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40→4 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37369" y="2982059"/>
            <a:ext cx="902864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3410" y="2777333"/>
            <a:ext cx="351732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4→1 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40233" y="2698592"/>
            <a:ext cx="1153270" cy="294423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40233" y="2982059"/>
            <a:ext cx="1153270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1930" y="2777333"/>
            <a:ext cx="456481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40→4 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3503" y="2698592"/>
            <a:ext cx="1042872" cy="294423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93503" y="2982059"/>
            <a:ext cx="1042872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79551" y="2777333"/>
            <a:ext cx="351732" cy="1314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883" b="1" i="0" spc="26">
                <a:solidFill>
                  <a:srgbClr val="4A5263"/>
                </a:solidFill>
                <a:latin typeface="Inter"/>
              </a:rPr>
              <a:t>4→1 K</a:t>
            </a:r>
          </a:p>
        </p:txBody>
      </p:sp>
      <p:grpSp>
        <p:nvGrpSpPr>
          <p:cNvPr id="42" name="Summary row"/>
          <p:cNvGrpSpPr/>
          <p:nvPr/>
        </p:nvGrpSpPr>
        <p:grpSpPr>
          <a:xfrm>
            <a:off x="455625" y="2993014"/>
            <a:ext cx="11280750" cy="418355"/>
            <a:chOff x="455625" y="2993014"/>
            <a:chExt cx="11280750" cy="418355"/>
          </a:xfrm>
        </p:grpSpPr>
        <p:sp>
          <p:nvSpPr>
            <p:cNvPr id="43" name="Rectangle 42"/>
            <p:cNvSpPr/>
            <p:nvPr/>
          </p:nvSpPr>
          <p:spPr>
            <a:xfrm>
              <a:off x="455625" y="3400414"/>
              <a:ext cx="918611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60717" y="3100855"/>
              <a:ext cx="178861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73" b="1" i="0">
                  <a:solidFill>
                    <a:srgbClr val="4A5263"/>
                  </a:solidFill>
                  <a:latin typeface="JetBrains Mono"/>
                </a:rPr>
                <a:t>3″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374236" y="3400414"/>
              <a:ext cx="1119038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673080" y="3100855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0.049 dB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493274" y="3400414"/>
              <a:ext cx="101086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773290" y="3103594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35.3 mW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504139" y="3400414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765499" y="3103594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566 µW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407003" y="2993014"/>
              <a:ext cx="97988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407003" y="3400414"/>
              <a:ext cx="97988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45384" y="3103594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7.35 W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386888" y="2993014"/>
              <a:ext cx="122207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386888" y="3400414"/>
              <a:ext cx="122207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783292" y="3103594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117.6 mW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608964" y="3400414"/>
              <a:ext cx="112554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608964" y="2993014"/>
              <a:ext cx="10954" cy="418354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914311" y="3100855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0.335 dB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734505" y="3400414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95865" y="3103594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533 µW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637369" y="3400414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898729" y="3103594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5.1 µW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540233" y="2993014"/>
              <a:ext cx="1153270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540233" y="3400414"/>
              <a:ext cx="1153270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873309" y="3103594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110.9 mW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0693503" y="2993014"/>
              <a:ext cx="1042872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0693503" y="3400414"/>
              <a:ext cx="104287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005526" y="3103594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1.06 mW</a:t>
              </a:r>
            </a:p>
          </p:txBody>
        </p:sp>
      </p:grpSp>
      <p:grpSp>
        <p:nvGrpSpPr>
          <p:cNvPr id="70" name="Summary row"/>
          <p:cNvGrpSpPr/>
          <p:nvPr/>
        </p:nvGrpSpPr>
        <p:grpSpPr>
          <a:xfrm>
            <a:off x="455625" y="3411369"/>
            <a:ext cx="11280750" cy="418354"/>
            <a:chOff x="455625" y="3411369"/>
            <a:chExt cx="11280750" cy="418354"/>
          </a:xfrm>
        </p:grpSpPr>
        <p:sp>
          <p:nvSpPr>
            <p:cNvPr id="71" name="Rectangle 70"/>
            <p:cNvSpPr/>
            <p:nvPr/>
          </p:nvSpPr>
          <p:spPr>
            <a:xfrm>
              <a:off x="455625" y="3818768"/>
              <a:ext cx="918611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60717" y="3521949"/>
              <a:ext cx="178861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73" b="1" i="0">
                  <a:solidFill>
                    <a:srgbClr val="4A5263"/>
                  </a:solidFill>
                  <a:latin typeface="JetBrains Mono"/>
                </a:rPr>
                <a:t>5″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374236" y="3818768"/>
              <a:ext cx="1119038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673080" y="3521949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0.081 dB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493274" y="3818768"/>
              <a:ext cx="101086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773290" y="3521949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21.2 mW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504139" y="3818768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765499" y="3521949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339 µW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407003" y="3411369"/>
              <a:ext cx="97988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407003" y="3818768"/>
              <a:ext cx="97988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745384" y="3521949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4.41 W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5386888" y="3411369"/>
              <a:ext cx="122207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386888" y="3818768"/>
              <a:ext cx="122207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872637" y="3521949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70.6 mW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608964" y="3818768"/>
              <a:ext cx="112554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608964" y="3411369"/>
              <a:ext cx="10954" cy="418354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914311" y="3521949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0.558 dB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7734505" y="3818768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995865" y="3521949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320 µW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637369" y="3818768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898729" y="3521949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3.1 µW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9540233" y="3411369"/>
              <a:ext cx="1153270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9540233" y="3818768"/>
              <a:ext cx="1153270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962654" y="3521949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66.6 mW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10693503" y="3411369"/>
              <a:ext cx="1042872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0693503" y="3818768"/>
              <a:ext cx="104287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1094871" y="3521949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636 µW</a:t>
              </a:r>
            </a:p>
          </p:txBody>
        </p:sp>
      </p:grpSp>
      <p:grpSp>
        <p:nvGrpSpPr>
          <p:cNvPr id="98" name="Summary row"/>
          <p:cNvGrpSpPr/>
          <p:nvPr/>
        </p:nvGrpSpPr>
        <p:grpSpPr>
          <a:xfrm>
            <a:off x="455625" y="3829723"/>
            <a:ext cx="11280750" cy="418354"/>
            <a:chOff x="455625" y="3829723"/>
            <a:chExt cx="11280750" cy="418354"/>
          </a:xfrm>
        </p:grpSpPr>
        <p:sp>
          <p:nvSpPr>
            <p:cNvPr id="99" name="Rectangle 98"/>
            <p:cNvSpPr/>
            <p:nvPr/>
          </p:nvSpPr>
          <p:spPr>
            <a:xfrm>
              <a:off x="455625" y="4237122"/>
              <a:ext cx="918611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60717" y="3940303"/>
              <a:ext cx="268206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73" b="1" i="0">
                  <a:solidFill>
                    <a:srgbClr val="4A5263"/>
                  </a:solidFill>
                  <a:latin typeface="JetBrains Mono"/>
                </a:rPr>
                <a:t>10″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1374236" y="4237122"/>
              <a:ext cx="1119038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673080" y="3940303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0.162 dB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493274" y="4237122"/>
              <a:ext cx="101086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773290" y="3940303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10.6 mW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3504139" y="4237122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765499" y="3940303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170 µW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4407003" y="3829723"/>
              <a:ext cx="97988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4407003" y="4237122"/>
              <a:ext cx="97988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745384" y="3940303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2.20 W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5386888" y="3829723"/>
              <a:ext cx="122207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5386888" y="4237122"/>
              <a:ext cx="122207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872637" y="3940303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35.3 mW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6608964" y="4237122"/>
              <a:ext cx="112554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608964" y="3829723"/>
              <a:ext cx="10954" cy="418354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003656" y="3940303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1.12 dB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7734505" y="4237122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995865" y="3940303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160 µW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8637369" y="4237122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8898729" y="3940303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1.5 µW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9540233" y="3829723"/>
              <a:ext cx="1153270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9540233" y="4237122"/>
              <a:ext cx="1153270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9962654" y="3940303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33.3 mW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693503" y="3829723"/>
              <a:ext cx="1042872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0693503" y="4237122"/>
              <a:ext cx="104287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1094871" y="3940303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318 µW</a:t>
              </a:r>
            </a:p>
          </p:txBody>
        </p:sp>
      </p:grpSp>
      <p:grpSp>
        <p:nvGrpSpPr>
          <p:cNvPr id="126" name="Summary row"/>
          <p:cNvGrpSpPr/>
          <p:nvPr/>
        </p:nvGrpSpPr>
        <p:grpSpPr>
          <a:xfrm>
            <a:off x="455625" y="4248078"/>
            <a:ext cx="11280750" cy="418354"/>
            <a:chOff x="455625" y="4248078"/>
            <a:chExt cx="11280750" cy="418354"/>
          </a:xfrm>
        </p:grpSpPr>
        <p:sp>
          <p:nvSpPr>
            <p:cNvPr id="127" name="Rectangle 126"/>
            <p:cNvSpPr/>
            <p:nvPr/>
          </p:nvSpPr>
          <p:spPr>
            <a:xfrm>
              <a:off x="455625" y="4655477"/>
              <a:ext cx="918611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60717" y="4358657"/>
              <a:ext cx="268206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73" b="1" i="0">
                  <a:solidFill>
                    <a:srgbClr val="4A5263"/>
                  </a:solidFill>
                  <a:latin typeface="JetBrains Mono"/>
                </a:rPr>
                <a:t>15″</a:t>
              </a: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374236" y="4655477"/>
              <a:ext cx="1119038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673080" y="4358657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0.243 dB</a:t>
              </a: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2493274" y="4655477"/>
              <a:ext cx="101086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773290" y="4358657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7.07 mW</a:t>
              </a: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3504139" y="4655477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765499" y="4358657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113 µW</a:t>
              </a: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407003" y="4248078"/>
              <a:ext cx="97988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407003" y="4655477"/>
              <a:ext cx="97988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4745384" y="4358657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1.47 W</a:t>
              </a: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5386888" y="4248078"/>
              <a:ext cx="1222075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5386888" y="4655477"/>
              <a:ext cx="122207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5872637" y="4358657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23.5 mW</a:t>
              </a: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6608964" y="4655477"/>
              <a:ext cx="112554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6608964" y="4248078"/>
              <a:ext cx="10954" cy="418354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7003656" y="4358657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1.67 dB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734505" y="4655477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995865" y="4358657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107 µW</a:t>
              </a: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8637369" y="4655477"/>
              <a:ext cx="902864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8898729" y="4358657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1.0 µW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9540233" y="4248078"/>
              <a:ext cx="1153270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9540233" y="4655477"/>
              <a:ext cx="1153270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9962654" y="4358657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22.2 mW</a:t>
              </a: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0693503" y="4248078"/>
              <a:ext cx="1042872" cy="418354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0693503" y="4655477"/>
              <a:ext cx="1042872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1094871" y="4358657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212 µW</a:t>
              </a:r>
            </a:p>
          </p:txBody>
        </p:sp>
      </p:grpSp>
      <p:grpSp>
        <p:nvGrpSpPr>
          <p:cNvPr id="154" name="Summary row"/>
          <p:cNvGrpSpPr/>
          <p:nvPr/>
        </p:nvGrpSpPr>
        <p:grpSpPr>
          <a:xfrm>
            <a:off x="560717" y="4666432"/>
            <a:ext cx="11175658" cy="412877"/>
            <a:chOff x="560717" y="4666432"/>
            <a:chExt cx="11175658" cy="412877"/>
          </a:xfrm>
        </p:grpSpPr>
        <p:sp>
          <p:nvSpPr>
            <p:cNvPr id="155" name="TextBox 154"/>
            <p:cNvSpPr txBox="1"/>
            <p:nvPr/>
          </p:nvSpPr>
          <p:spPr>
            <a:xfrm>
              <a:off x="560717" y="4777012"/>
              <a:ext cx="268206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173" b="1" i="0">
                  <a:solidFill>
                    <a:srgbClr val="4A5263"/>
                  </a:solidFill>
                  <a:latin typeface="JetBrains Mono"/>
                </a:rPr>
                <a:t>18″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673080" y="4777012"/>
              <a:ext cx="71510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0.291 dB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2773290" y="4777012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5.89 mW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3854844" y="4777012"/>
              <a:ext cx="44706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94 µW</a:t>
              </a: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4407003" y="4666432"/>
              <a:ext cx="979885" cy="412877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745384" y="4777012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1.22 W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5386888" y="4666432"/>
              <a:ext cx="1222075" cy="412877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5872637" y="4777012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19.6 mW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6608964" y="4666432"/>
              <a:ext cx="10954" cy="412877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7003656" y="4777012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2.01 dB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8085210" y="4777012"/>
              <a:ext cx="44706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161B24"/>
                  </a:solidFill>
                  <a:latin typeface="JetBrains Mono"/>
                </a:rPr>
                <a:t>89 µW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8898729" y="4777012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0" i="0">
                  <a:solidFill>
                    <a:srgbClr val="8A93A6"/>
                  </a:solidFill>
                  <a:latin typeface="JetBrains Mono"/>
                </a:rPr>
                <a:t>0.8 µW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9540233" y="4666432"/>
              <a:ext cx="1153270" cy="412877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9962654" y="4777012"/>
              <a:ext cx="625757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161B24"/>
                  </a:solidFill>
                  <a:latin typeface="JetBrains Mono"/>
                </a:rPr>
                <a:t>18.5 mW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10693503" y="4666432"/>
              <a:ext cx="1042872" cy="412877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11094871" y="4777012"/>
              <a:ext cx="536412" cy="19719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173" b="1" i="0">
                  <a:solidFill>
                    <a:srgbClr val="8A93A6"/>
                  </a:solidFill>
                  <a:latin typeface="JetBrains Mono"/>
                </a:rPr>
                <a:t>177 µW</a:t>
              </a:r>
            </a:p>
          </p:txBody>
        </p:sp>
      </p:grpSp>
      <p:sp>
        <p:nvSpPr>
          <p:cNvPr id="171" name="Rectangle 170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5625" y="6258028"/>
            <a:ext cx="11132012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Insertion loss quoted at 2 GHz, 4–40 K stage. Heat load is conducted Q̇ across each stage's ΔT — shown per cable and for the full 208-cable harness (13 × 16). See per-length slides for 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5625" y="6440844"/>
            <a:ext cx="3048342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GHz figures and inner/outer/dielectric breakdowns.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257588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40 K → 4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37002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NEW-Doubled vs baseline · 5″ assembly · 127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doub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320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779274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66.6 mW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845854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0.558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845854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0.791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4074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NEW-Doubled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83824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2× N12-42M scale — 28 AWG (7×36) brass / PFA / 38 AWG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55515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brass spiral shield, 50 Ω</a:t>
              </a:r>
            </a:p>
          </p:txBody>
        </p:sp>
        <p:pic>
          <p:nvPicPr>
            <p:cNvPr id="45" name="Picture 44" descr="xsec_new_doub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49.7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1.42 mm · 55.9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487941" y="3377134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1.29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410919" y="3819624"/>
                <a:ext cx="10516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267.5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0.281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0.399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NEW-Doubled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4.0× the heat · 2.0× lower loss · 2.00×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260553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40 K → 4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438907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NEW-Doubled is the N12-42M construction (brass / PFA / spiral shield) scaled up, re-sized to hold 50 Ω and 0.78 shield coverage; its OD is 2.00× the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129561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 K → 1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37002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NEW-Doubled vs baseline · 5″ assembly · 127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doub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3.1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910724" y="3819624"/>
                <a:ext cx="7887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636 µW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845854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0.553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845854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0.783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4074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NEW-Doubled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83824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2× N12-42M scale — 28 AWG (7×36) brass / PFA / 38 AWG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55515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brass spiral shield, 50 Ω</a:t>
              </a:r>
            </a:p>
          </p:txBody>
        </p:sp>
        <p:pic>
          <p:nvPicPr>
            <p:cNvPr id="45" name="Picture 44" descr="xsec_new_doub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49.7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1.42 mm · 55.9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876985" y="3377134"/>
                <a:ext cx="389216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12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542369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2.56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0.277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0.393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NEW-Doubled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4.0× the heat · 2.0× lower loss · 2.00×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1508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 K → 1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438907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NEW-Doubled is the N12-42M construction (brass / PFA / spiral shield) scaled up, re-sized to hold 50 Ω and 0.78 shield coverage; its OD is 2.00× the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257588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40 K → 4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57096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NEW-Doubled vs baseline · 10″ assembly · 254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doub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160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779274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33.3 mW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977305" y="4509464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1.12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977305" y="4835897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1.58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4074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NEW-Doubled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83824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2× N12-42M scale — 28 AWG (7×36) brass / PFA / 38 AWG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55515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brass spiral shield, 50 Ω</a:t>
              </a:r>
            </a:p>
          </p:txBody>
        </p:sp>
        <p:pic>
          <p:nvPicPr>
            <p:cNvPr id="45" name="Picture 44" descr="xsec_new_doub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49.7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1.42 mm · 55.9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682549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643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410919" y="3819624"/>
                <a:ext cx="10516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133.8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0.561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0.798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NEW-Doubled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4.0× the heat · 2.0× lower loss · 2.00×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260553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40 K → 4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438907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NEW-Doubled is the N12-42M construction (brass / PFA / spiral shield) scaled up, re-sized to hold 50 Ω and 0.78 shield coverage; its OD is 2.00× the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129561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 K → 1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57096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NEW-Doubled vs baseline · 10″ assembly · 254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doub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1.5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910724" y="3819624"/>
                <a:ext cx="7887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318 µW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977305" y="4509464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1.11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977305" y="4835897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1.57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4074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NEW-Doubled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83824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2× N12-42M scale — 28 AWG (7×36) brass / PFA / 38 AWG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555151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brass spiral shield, 50 Ω</a:t>
              </a:r>
            </a:p>
          </p:txBody>
        </p:sp>
        <p:pic>
          <p:nvPicPr>
            <p:cNvPr id="45" name="Picture 44" descr="xsec_new_doub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49.7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1.42 mm · 55.9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682549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6.1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542369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1.28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0.555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0.786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NEW-Doubled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4.0× the heat · 2.0× lower loss · 2.00×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1508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 K → 1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438907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NEW-Doubled is the N12-42M construction (brass / PFA / spiral shield) scaled up, re-sized to hold 50 Ω and 0.78 shield coverage; its OD is 2.00× the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257588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40 K → 4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16634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NEW-Tripled vs baseline · 5″ assembly · 127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trip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320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779274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66.6 mW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845854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0.558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845854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0.791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254425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NEW-Tripled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563189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≈3× N12-42M scale — 25 AWG (7×33) brass / PFA / 34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91681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AWG brass spiral shield, 50 Ω</a:t>
              </a:r>
            </a:p>
          </p:txBody>
        </p:sp>
        <p:pic>
          <p:nvPicPr>
            <p:cNvPr id="45" name="Picture 44" descr="xsec_new_trip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50.0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2.06 mm · 81.1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487941" y="3377134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2.84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410919" y="3819624"/>
                <a:ext cx="10516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590.9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0.197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0.281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NEW-Tripled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8.9× the heat · 2.8× lower loss · 2.90×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260553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40 K → 4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34271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NEW-Tripled is the N12-42M construction (brass / PFA / spiral shield) scaled up, re-sized to hold 50 Ω and 0.78 shield coverage; its OD is 2.90× the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129561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 K → 1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16634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NEW-Tripled vs baseline · 5″ assembly · 127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trip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3.1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910724" y="3819624"/>
                <a:ext cx="7887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636 µW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845854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0.553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845854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0.783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254425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NEW-Tripled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563189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≈3× N12-42M scale — 25 AWG (7×33) brass / PFA / 34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91681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AWG brass spiral shield, 50 Ω</a:t>
              </a:r>
            </a:p>
          </p:txBody>
        </p:sp>
        <p:pic>
          <p:nvPicPr>
            <p:cNvPr id="45" name="Picture 44" descr="xsec_new_trip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50.1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2.06 mm · 81.1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876985" y="3377134"/>
                <a:ext cx="389216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27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542369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5.65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0.194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0.276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NEW-Tripled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8.9× the heat · 2.8× lower loss · 2.90×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1508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 K → 1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34271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NEW-Tripled is the N12-42M construction (brass / PFA / spiral shield) scaled up, re-sized to hold 50 Ω and 0.78 shield coverage; its OD is 2.90× the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257588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40 K → 4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36711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NEW-Tripled vs baseline · 10″ assembly · 254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trip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160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779274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33.3 mW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977305" y="4509464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1.12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977305" y="4835897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1.58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254425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NEW-Tripled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563189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≈3× N12-42M scale — 25 AWG (7×33) brass / PFA / 34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91681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AWG brass spiral shield, 50 Ω</a:t>
              </a:r>
            </a:p>
          </p:txBody>
        </p:sp>
        <p:pic>
          <p:nvPicPr>
            <p:cNvPr id="45" name="Picture 44" descr="xsec_new_trip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50.0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2.06 mm · 81.1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50850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40 K → 4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487941" y="3377134"/>
                <a:ext cx="778260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1.42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mW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410919" y="3819624"/>
                <a:ext cx="10516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295.4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0.394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0.562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NEW-Tripled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8.9× the heat · 2.8× lower loss · 2.90×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260553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40 K → 4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34271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NEW-Tripled is the N12-42M construction (brass / PFA / spiral shield) scaled up, re-sized to hold 50 Ω and 0.78 shield coverage; its OD is 2.90× the baseline.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5625" y="981353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5625" y="280386"/>
            <a:ext cx="2129561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66" b="1" i="0" spc="135">
                <a:solidFill>
                  <a:srgbClr val="2A6FB0"/>
                </a:solidFill>
                <a:latin typeface="Inter"/>
              </a:rPr>
              <a:t>RADIUS SCALING · 4 K → 1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625" y="495041"/>
            <a:ext cx="6367116" cy="3286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39" b="1" i="0" spc="-21">
                <a:solidFill>
                  <a:srgbClr val="161B24"/>
                </a:solidFill>
                <a:latin typeface="Inter"/>
              </a:rPr>
              <a:t>NEW-Tripled vs baseline · 10″ assembly · 254 mm</a:t>
            </a:r>
          </a:p>
        </p:txBody>
      </p:sp>
      <p:grpSp>
        <p:nvGrpSpPr>
          <p:cNvPr id="5" name="Cable card"/>
          <p:cNvGrpSpPr/>
          <p:nvPr/>
        </p:nvGrpSpPr>
        <p:grpSpPr>
          <a:xfrm>
            <a:off x="455625" y="1185052"/>
            <a:ext cx="5517654" cy="4374235"/>
            <a:chOff x="455625" y="1185052"/>
            <a:chExt cx="5517654" cy="4374235"/>
          </a:xfrm>
        </p:grpSpPr>
        <p:sp>
          <p:nvSpPr>
            <p:cNvPr id="6" name="Rounded Rectangle 5"/>
            <p:cNvSpPr/>
            <p:nvPr/>
          </p:nvSpPr>
          <p:spPr>
            <a:xfrm>
              <a:off x="455625" y="1185052"/>
              <a:ext cx="5517654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4778" y="1185052"/>
              <a:ext cx="5399349" cy="32866"/>
            </a:xfrm>
            <a:prstGeom prst="rect">
              <a:avLst/>
            </a:prstGeom>
            <a:solidFill>
              <a:srgbClr val="B9701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9480" y="1445753"/>
              <a:ext cx="2504741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B9701A"/>
                  </a:solidFill>
                  <a:latin typeface="Inter"/>
                </a:rPr>
                <a:t>NEW N12-42M-100006-1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480" y="1752501"/>
              <a:ext cx="3786722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34 AWG (7×42) C27000 brass / PFA / 44 AWG brass spiral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9480" y="1950723"/>
              <a:ext cx="771585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shield, 50 Ω</a:t>
              </a:r>
            </a:p>
          </p:txBody>
        </p:sp>
        <p:pic>
          <p:nvPicPr>
            <p:cNvPr id="11" name="Picture 10" descr="xsec_new_n12_42m_100006_1_at_new_tripled_sca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1182" y="1445753"/>
              <a:ext cx="898243" cy="898332"/>
            </a:xfrm>
            <a:prstGeom prst="rect">
              <a:avLst/>
            </a:prstGeom>
          </p:spPr>
        </p:pic>
        <p:grpSp>
          <p:nvGrpSpPr>
            <p:cNvPr id="12" name="Spec chip"/>
            <p:cNvGrpSpPr/>
            <p:nvPr/>
          </p:nvGrpSpPr>
          <p:grpSpPr>
            <a:xfrm>
              <a:off x="729480" y="2501739"/>
              <a:ext cx="913133" cy="295108"/>
              <a:chOff x="729480" y="2501739"/>
              <a:chExt cx="913133" cy="295108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729480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68375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49.8 Ω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836796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16" name="Spec chip"/>
            <p:cNvGrpSpPr/>
            <p:nvPr/>
          </p:nvGrpSpPr>
          <p:grpSpPr>
            <a:xfrm>
              <a:off x="1730247" y="2501739"/>
              <a:ext cx="1846977" cy="295108"/>
              <a:chOff x="1730247" y="2501739"/>
              <a:chExt cx="1846977" cy="295108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730247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069142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0.71 mm · 28.0 mil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837563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29480" y="3007051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9480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22" name="Metric row"/>
            <p:cNvGrpSpPr/>
            <p:nvPr/>
          </p:nvGrpSpPr>
          <p:grpSpPr>
            <a:xfrm>
              <a:off x="729480" y="3377134"/>
              <a:ext cx="4969945" cy="427256"/>
              <a:chOff x="729480" y="3377134"/>
              <a:chExt cx="4969945" cy="42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729480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19453" y="3377134"/>
                <a:ext cx="583652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1.5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552057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26" name="Metric row"/>
            <p:cNvGrpSpPr/>
            <p:nvPr/>
          </p:nvGrpSpPr>
          <p:grpSpPr>
            <a:xfrm>
              <a:off x="729480" y="3819624"/>
              <a:ext cx="4969945" cy="284837"/>
              <a:chOff x="729480" y="3819624"/>
              <a:chExt cx="4969945" cy="28483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729480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910724" y="3819624"/>
                <a:ext cx="7887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318 µW</a:t>
                </a: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29480" y="4117470"/>
              <a:ext cx="4969945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9480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31" name="Metric row"/>
            <p:cNvGrpSpPr/>
            <p:nvPr/>
          </p:nvGrpSpPr>
          <p:grpSpPr>
            <a:xfrm>
              <a:off x="729480" y="4509464"/>
              <a:ext cx="4969945" cy="284837"/>
              <a:chOff x="729480" y="4509464"/>
              <a:chExt cx="4969945" cy="28483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729480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977305" y="4509464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1.11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552057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35" name="Metric row"/>
            <p:cNvGrpSpPr/>
            <p:nvPr/>
          </p:nvGrpSpPr>
          <p:grpSpPr>
            <a:xfrm>
              <a:off x="729480" y="4835897"/>
              <a:ext cx="4969945" cy="284837"/>
              <a:chOff x="729480" y="4835897"/>
              <a:chExt cx="4969945" cy="284837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9480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977305" y="4835897"/>
                <a:ext cx="52580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1.57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552057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grpSp>
        <p:nvGrpSpPr>
          <p:cNvPr id="39" name="Cable card"/>
          <p:cNvGrpSpPr/>
          <p:nvPr/>
        </p:nvGrpSpPr>
        <p:grpSpPr>
          <a:xfrm>
            <a:off x="6218550" y="1185052"/>
            <a:ext cx="5517825" cy="4374235"/>
            <a:chOff x="6218550" y="1185052"/>
            <a:chExt cx="5517825" cy="4374235"/>
          </a:xfrm>
        </p:grpSpPr>
        <p:sp>
          <p:nvSpPr>
            <p:cNvPr id="40" name="Rounded Rectangle 39"/>
            <p:cNvSpPr/>
            <p:nvPr/>
          </p:nvSpPr>
          <p:spPr>
            <a:xfrm>
              <a:off x="6218550" y="1185052"/>
              <a:ext cx="5517825" cy="4374235"/>
            </a:xfrm>
            <a:prstGeom prst="roundRect">
              <a:avLst>
                <a:gd name="adj" fmla="val 3005"/>
              </a:avLst>
            </a:prstGeom>
            <a:solidFill>
              <a:srgbClr val="FFFFFF"/>
            </a:solidFill>
            <a:ln w="10954">
              <a:solidFill>
                <a:srgbClr val="E2E6E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77702" y="1185052"/>
              <a:ext cx="5399520" cy="32866"/>
            </a:xfrm>
            <a:prstGeom prst="rect">
              <a:avLst/>
            </a:prstGeom>
            <a:solidFill>
              <a:srgbClr val="1F7A7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404" y="1445753"/>
              <a:ext cx="1254425" cy="2519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28" b="1" i="0" spc="-16">
                  <a:solidFill>
                    <a:srgbClr val="1F7A7A"/>
                  </a:solidFill>
                  <a:latin typeface="Inter"/>
                </a:rPr>
                <a:t>NEW-Tripled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92404" y="1752501"/>
              <a:ext cx="3563189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≈3× N12-42M scale — 25 AWG (7×33) brass / PFA / 34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92404" y="1950723"/>
              <a:ext cx="1916810" cy="16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076" b="0" i="0">
                  <a:solidFill>
                    <a:srgbClr val="4A5263"/>
                  </a:solidFill>
                  <a:latin typeface="Inter"/>
                </a:rPr>
                <a:t>AWG brass spiral shield, 50 Ω</a:t>
              </a:r>
            </a:p>
          </p:txBody>
        </p:sp>
        <p:pic>
          <p:nvPicPr>
            <p:cNvPr id="45" name="Picture 44" descr="xsec_new_tripl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4278" y="1445753"/>
              <a:ext cx="898243" cy="898332"/>
            </a:xfrm>
            <a:prstGeom prst="rect">
              <a:avLst/>
            </a:prstGeom>
          </p:spPr>
        </p:pic>
        <p:grpSp>
          <p:nvGrpSpPr>
            <p:cNvPr id="46" name="Spec chip"/>
            <p:cNvGrpSpPr/>
            <p:nvPr/>
          </p:nvGrpSpPr>
          <p:grpSpPr>
            <a:xfrm>
              <a:off x="6492404" y="2501739"/>
              <a:ext cx="913133" cy="295108"/>
              <a:chOff x="6492404" y="2501739"/>
              <a:chExt cx="913133" cy="295108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6492404" y="2501739"/>
                <a:ext cx="913133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31299" y="2561651"/>
                <a:ext cx="466922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50.1 Ω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599721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Z₀</a:t>
                </a:r>
              </a:p>
            </p:txBody>
          </p:sp>
        </p:grpSp>
        <p:grpSp>
          <p:nvGrpSpPr>
            <p:cNvPr id="50" name="Spec chip"/>
            <p:cNvGrpSpPr/>
            <p:nvPr/>
          </p:nvGrpSpPr>
          <p:grpSpPr>
            <a:xfrm>
              <a:off x="7493171" y="2501739"/>
              <a:ext cx="1846977" cy="295108"/>
              <a:chOff x="7493171" y="2501739"/>
              <a:chExt cx="1846977" cy="295108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7493171" y="2501739"/>
                <a:ext cx="1846977" cy="295108"/>
              </a:xfrm>
              <a:prstGeom prst="roundRect">
                <a:avLst>
                  <a:gd name="adj" fmla="val 22273"/>
                </a:avLst>
              </a:prstGeom>
              <a:solidFill>
                <a:srgbClr val="F7F9FC"/>
              </a:solidFill>
              <a:ln w="10954">
                <a:solidFill>
                  <a:srgbClr val="E2E6E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832066" y="2561651"/>
                <a:ext cx="1400765" cy="17528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021" b="0" i="0">
                    <a:solidFill>
                      <a:srgbClr val="4A5263"/>
                    </a:solidFill>
                    <a:latin typeface="JetBrains Mono"/>
                  </a:rPr>
                  <a:t>2.06 mm · 81.1 mil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600488" y="2572606"/>
                <a:ext cx="152845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10" b="1" i="0" spc="55">
                    <a:solidFill>
                      <a:srgbClr val="8A93A6"/>
                    </a:solidFill>
                    <a:latin typeface="JetBrains Mono"/>
                  </a:rPr>
                  <a:t>OD</a:t>
                </a:r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6492404" y="3007051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92404" y="3175659"/>
              <a:ext cx="2392461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CONDUCTED HEAT LOAD · 4 K → 1 K</a:t>
              </a:r>
            </a:p>
          </p:txBody>
        </p:sp>
        <p:grpSp>
          <p:nvGrpSpPr>
            <p:cNvPr id="56" name="Metric row"/>
            <p:cNvGrpSpPr/>
            <p:nvPr/>
          </p:nvGrpSpPr>
          <p:grpSpPr>
            <a:xfrm>
              <a:off x="6492404" y="3377134"/>
              <a:ext cx="4970116" cy="427256"/>
              <a:chOff x="6492404" y="3377134"/>
              <a:chExt cx="4970116" cy="42725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6492404" y="3563373"/>
                <a:ext cx="776206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per cable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876985" y="3377134"/>
                <a:ext cx="389216" cy="42725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2553" b="1" i="0">
                    <a:solidFill>
                      <a:srgbClr val="161B24"/>
                    </a:solidFill>
                    <a:latin typeface="JetBrains Mono"/>
                  </a:rPr>
                  <a:t>14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1315152" y="358528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µW</a:t>
                </a:r>
              </a:p>
            </p:txBody>
          </p:sp>
        </p:grpSp>
        <p:grpSp>
          <p:nvGrpSpPr>
            <p:cNvPr id="60" name="Metric row"/>
            <p:cNvGrpSpPr/>
            <p:nvPr/>
          </p:nvGrpSpPr>
          <p:grpSpPr>
            <a:xfrm>
              <a:off x="6492404" y="3819624"/>
              <a:ext cx="4970116" cy="284837"/>
              <a:chOff x="6492404" y="3819624"/>
              <a:chExt cx="4970116" cy="284837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6492404" y="3896311"/>
                <a:ext cx="1121092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× 208 harness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0542369" y="3819624"/>
                <a:ext cx="9201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2.82 mW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6492404" y="4117470"/>
              <a:ext cx="4970116" cy="10955"/>
            </a:xfrm>
            <a:prstGeom prst="rect">
              <a:avLst/>
            </a:prstGeom>
            <a:solidFill>
              <a:srgbClr val="E2E6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404" y="4286079"/>
              <a:ext cx="1325627" cy="14241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910" b="1" i="0" spc="91">
                  <a:solidFill>
                    <a:srgbClr val="8A93A6"/>
                  </a:solidFill>
                  <a:latin typeface="Inter"/>
                </a:rPr>
                <a:t>RF INSERTION LOSS</a:t>
              </a:r>
            </a:p>
          </p:txBody>
        </p:sp>
        <p:grpSp>
          <p:nvGrpSpPr>
            <p:cNvPr id="65" name="Metric row"/>
            <p:cNvGrpSpPr/>
            <p:nvPr/>
          </p:nvGrpSpPr>
          <p:grpSpPr>
            <a:xfrm>
              <a:off x="6492404" y="4509464"/>
              <a:ext cx="4970116" cy="284837"/>
              <a:chOff x="6492404" y="4509464"/>
              <a:chExt cx="4970116" cy="284837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6492404" y="4586151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2 GHz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0608950" y="4509464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0.389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1315152" y="4608061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  <p:grpSp>
          <p:nvGrpSpPr>
            <p:cNvPr id="69" name="Metric row"/>
            <p:cNvGrpSpPr/>
            <p:nvPr/>
          </p:nvGrpSpPr>
          <p:grpSpPr>
            <a:xfrm>
              <a:off x="6492404" y="4835897"/>
              <a:ext cx="4970116" cy="284837"/>
              <a:chOff x="6492404" y="4835897"/>
              <a:chExt cx="4970116" cy="284837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492404" y="4912583"/>
                <a:ext cx="431321" cy="186240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131" b="0" i="0">
                    <a:solidFill>
                      <a:srgbClr val="4A5263"/>
                    </a:solidFill>
                    <a:latin typeface="JetBrains Mono"/>
                  </a:rPr>
                  <a:t>4 GHz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0608950" y="4835897"/>
                <a:ext cx="657251" cy="284837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1725" b="0" i="0">
                    <a:solidFill>
                      <a:srgbClr val="4A5263"/>
                    </a:solidFill>
                    <a:latin typeface="JetBrains Mono"/>
                  </a:rPr>
                  <a:t>0.552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11315152" y="4934494"/>
                <a:ext cx="147368" cy="153374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/>
                <a:r>
                  <a:rPr sz="966" b="0" i="0">
                    <a:solidFill>
                      <a:srgbClr val="8A93A6"/>
                    </a:solidFill>
                    <a:latin typeface="JetBrains Mono"/>
                  </a:rPr>
                  <a:t>dB</a:t>
                </a:r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3224978" y="5752031"/>
            <a:ext cx="5741872" cy="1862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6" b="0" i="0">
                <a:solidFill>
                  <a:srgbClr val="4A5263"/>
                </a:solidFill>
                <a:latin typeface="JetBrains Mono"/>
              </a:rPr>
              <a:t>Trade-off · </a:t>
            </a:r>
            <a:r>
              <a:rPr sz="1076" b="1" i="0">
                <a:solidFill>
                  <a:srgbClr val="1F7A7A"/>
                </a:solidFill>
                <a:latin typeface="JetBrains Mono"/>
              </a:rPr>
              <a:t>NEW-Tripled</a:t>
            </a:r>
            <a:r>
              <a:rPr sz="1076" b="0" i="0">
                <a:solidFill>
                  <a:srgbClr val="4A5263"/>
                </a:solidFill>
                <a:latin typeface="JetBrains Mono"/>
              </a:rPr>
              <a:t> 8.9× the heat · 2.8× lower loss · 2.90× the 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625" y="6113555"/>
            <a:ext cx="11280749" cy="1095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625" y="6258028"/>
            <a:ext cx="11150840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Heat load = steady-state conduction Q̇ across the 4 K → 1 K ΔT, per cable and for the full 208-cable harness (13 × 16). RF insertion loss = α(f)·L with ρ, ε_r and tan δ taken at this stage's T̄.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625" y="6440844"/>
            <a:ext cx="9342716" cy="1533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93" b="0" i="0">
                <a:solidFill>
                  <a:srgbClr val="8A93A6"/>
                </a:solidFill>
                <a:latin typeface="Inter"/>
              </a:rPr>
              <a:t>NEW-Tripled is the N12-42M construction (brass / PFA / spiral shield) scaled up, re-sized to hold 50 Ω and 0.78 shield coverage; its OD is 2.90× the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Cryogenic Micro-Coax · Loss &amp; Heat-Load Projections</dc:title>
  <dc:subject>50 Ω stranded micro-coax · cryostat wiring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