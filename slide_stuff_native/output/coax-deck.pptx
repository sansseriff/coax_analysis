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932688"/>
            <a:ext cx="8229600" cy="2654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70">
                <a:solidFill>
                  <a:srgbClr val="2A6FB0"/>
                </a:solidFill>
                <a:latin typeface="JetBrains Mono"/>
              </a:rPr>
              <a:t>50 Ω stranded micro-coax · cryostat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43584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 spc="-90">
                <a:solidFill>
                  <a:srgbClr val="161B24"/>
                </a:solidFill>
                <a:latin typeface="Inter"/>
              </a:rPr>
              <a:t>Insertion Loss &amp; Heat-Load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57984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A5263"/>
                </a:solidFill>
                <a:latin typeface="Inter"/>
              </a:rPr>
              <a:t>Two 50 Ω candidates for a 208-line harness — </a:t>
            </a:r>
            <a:r>
              <a:rPr sz="1300" b="1" i="0">
                <a:solidFill>
                  <a:srgbClr val="2A6FB0"/>
                </a:solidFill>
                <a:latin typeface="Inter"/>
              </a:rPr>
              <a:t>Samtec TCF-3450F</a:t>
            </a:r>
            <a:r>
              <a:rPr sz="1300" b="0" i="0">
                <a:solidFill>
                  <a:srgbClr val="4A5263"/>
                </a:solidFill>
                <a:latin typeface="Inter"/>
              </a:rPr>
              <a:t> and </a:t>
            </a:r>
            <a:r>
              <a:rPr sz="1300" b="1" i="0">
                <a:solidFill>
                  <a:srgbClr val="B9701A"/>
                </a:solidFill>
                <a:latin typeface="Inter"/>
              </a:rPr>
              <a:t>NEW N12-42M-100006-1</a:t>
            </a:r>
            <a:r>
              <a:rPr sz="1300" b="0" i="0">
                <a:solidFill>
                  <a:srgbClr val="4A5263"/>
                </a:solidFill>
                <a:latin typeface="Inter"/>
              </a:rPr>
              <a:t> — projected across five assembly lengths: </a:t>
            </a:r>
            <a:r>
              <a:rPr sz="1300" b="1" i="0">
                <a:solidFill>
                  <a:srgbClr val="161B24"/>
                </a:solidFill>
                <a:latin typeface="Inter"/>
              </a:rPr>
              <a:t>3″, 5″, 10″, 15″, 18″.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127248"/>
            <a:ext cx="5355336" cy="215798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45720" cy="2157984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383280"/>
            <a:ext cx="47335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730752"/>
            <a:ext cx="473354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877824" y="4169663"/>
            <a:ext cx="4733544" cy="358521"/>
            <a:chOff x="877824" y="4169663"/>
            <a:chExt cx="4733544" cy="358521"/>
          </a:xfrm>
        </p:grpSpPr>
        <p:sp>
          <p:nvSpPr>
            <p:cNvPr id="10" name="TextBox 9"/>
            <p:cNvSpPr txBox="1"/>
            <p:nvPr/>
          </p:nvSpPr>
          <p:spPr>
            <a:xfrm>
              <a:off x="877824" y="4169663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Z₀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7824" y="4169663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50.5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Ω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77824" y="4518659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77824" y="4517135"/>
            <a:ext cx="4733544" cy="358521"/>
            <a:chOff x="877824" y="4517135"/>
            <a:chExt cx="4733544" cy="358521"/>
          </a:xfrm>
        </p:grpSpPr>
        <p:sp>
          <p:nvSpPr>
            <p:cNvPr id="14" name="TextBox 13"/>
            <p:cNvSpPr txBox="1"/>
            <p:nvPr/>
          </p:nvSpPr>
          <p:spPr>
            <a:xfrm>
              <a:off x="877824" y="4517135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Cable OD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7824" y="4517135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0.56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mm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 ·  </a:t>
              </a: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22.1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mils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77824" y="4866131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77824" y="4864607"/>
            <a:ext cx="4733544" cy="310896"/>
            <a:chOff x="877824" y="4864607"/>
            <a:chExt cx="4733544" cy="310896"/>
          </a:xfrm>
        </p:grpSpPr>
        <p:sp>
          <p:nvSpPr>
            <p:cNvPr id="18" name="TextBox 17"/>
            <p:cNvSpPr txBox="1"/>
            <p:nvPr/>
          </p:nvSpPr>
          <p:spPr>
            <a:xfrm>
              <a:off x="877824" y="4864607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α @ 2 GHz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7824" y="4864607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0.637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dB/m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6269736" y="3127248"/>
            <a:ext cx="5355336" cy="2157984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9736" y="3127248"/>
            <a:ext cx="45720" cy="2157984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632" y="3383280"/>
            <a:ext cx="47335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632" y="3730752"/>
            <a:ext cx="473354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580632" y="4169663"/>
            <a:ext cx="4733544" cy="358521"/>
            <a:chOff x="6580632" y="4169663"/>
            <a:chExt cx="4733544" cy="358521"/>
          </a:xfrm>
        </p:grpSpPr>
        <p:sp>
          <p:nvSpPr>
            <p:cNvPr id="25" name="TextBox 24"/>
            <p:cNvSpPr txBox="1"/>
            <p:nvPr/>
          </p:nvSpPr>
          <p:spPr>
            <a:xfrm>
              <a:off x="6580632" y="4169663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Z₀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0632" y="4169663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49.8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Ω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80632" y="4518659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580632" y="4517135"/>
            <a:ext cx="4733544" cy="358521"/>
            <a:chOff x="6580632" y="4517135"/>
            <a:chExt cx="4733544" cy="358521"/>
          </a:xfrm>
        </p:grpSpPr>
        <p:sp>
          <p:nvSpPr>
            <p:cNvPr id="29" name="TextBox 28"/>
            <p:cNvSpPr txBox="1"/>
            <p:nvPr/>
          </p:nvSpPr>
          <p:spPr>
            <a:xfrm>
              <a:off x="6580632" y="4517135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Cable OD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80632" y="4517135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0.71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mm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 ·  </a:t>
              </a: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28.0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mils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580632" y="4866131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580632" y="4864607"/>
            <a:ext cx="4733544" cy="310896"/>
            <a:chOff x="6580632" y="4864607"/>
            <a:chExt cx="4733544" cy="310896"/>
          </a:xfrm>
        </p:grpSpPr>
        <p:sp>
          <p:nvSpPr>
            <p:cNvPr id="33" name="TextBox 32"/>
            <p:cNvSpPr txBox="1"/>
            <p:nvPr/>
          </p:nvSpPr>
          <p:spPr>
            <a:xfrm>
              <a:off x="6580632" y="4864607"/>
              <a:ext cx="2130094" cy="310896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8A93A6"/>
                  </a:solidFill>
                  <a:latin typeface="JetBrains Mono"/>
                </a:rPr>
                <a:t>α @ 2 GHz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80632" y="4864607"/>
              <a:ext cx="4733544" cy="310896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300" b="1" i="0" spc="-30">
                  <a:solidFill>
                    <a:srgbClr val="161B24"/>
                  </a:solidFill>
                  <a:latin typeface="JetBrains Mono"/>
                </a:rPr>
                <a:t>4.39</a:t>
              </a:r>
              <a:r>
                <a:rPr sz="919" b="0" i="0">
                  <a:solidFill>
                    <a:srgbClr val="8A93A6"/>
                  </a:solidFill>
                  <a:latin typeface="JetBrains Mono"/>
                </a:rPr>
                <a:t> dB/m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566928" y="563270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815584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Method — conductor loss after Pozar (Microwave Engineering, §2.7) plus dielectric loss, with a per-conductor stranding factor K_s calibrated to the TCF-3450F insertion-loss curve over 1–4 GHz. Heat load is steady-state conduction across each cryostat stage's ΔT, with lay-angle path corrections. Insertion loss is quoted at the 40 K → 4 K stage (</a:t>
            </a:r>
            <a:r>
              <a:rPr sz="780" b="0" i="0">
                <a:solidFill>
                  <a:srgbClr val="8A93A6"/>
                </a:solidFill>
                <a:latin typeface="JetBrains Mono"/>
              </a:rPr>
              <a:t>T̄</a:t>
            </a:r>
            <a:r>
              <a:rPr sz="780" b="0" i="0">
                <a:solidFill>
                  <a:srgbClr val="8A93A6"/>
                </a:solidFill>
                <a:latin typeface="Inter"/>
              </a:rPr>
              <a:t> ≈ 22 K); cross-sections are drawn to each preset's real geometry at a common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CABLE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3″ assembly · 76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PER-CABLE FIGURES · 50 Ω · 40 K → 4 K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355336" cy="457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4661476" y="1701868"/>
            <a:ext cx="839079" cy="839079"/>
            <a:chOff x="4661476" y="1701868"/>
            <a:chExt cx="839079" cy="839079"/>
          </a:xfrm>
        </p:grpSpPr>
        <p:sp>
          <p:nvSpPr>
            <p:cNvPr id="9" name="Oval 8"/>
            <p:cNvSpPr/>
            <p:nvPr/>
          </p:nvSpPr>
          <p:spPr>
            <a:xfrm>
              <a:off x="4661476" y="1701868"/>
              <a:ext cx="839079" cy="83907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720968" y="1761360"/>
              <a:ext cx="720094" cy="720094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51269" y="170186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118956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84587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246166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301824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49869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388840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17555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435141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441063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35141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417555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388840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869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301824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46166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84587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118956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51269" y="248145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983582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917952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856372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800715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752670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713698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84983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667397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661476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667397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684983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713698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752670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00715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856372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917952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983582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33717" y="2074109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33717" y="1979512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15640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115640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33717" y="2168706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951794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951794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77824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77824" y="2523744"/>
            <a:ext cx="869187" cy="265176"/>
            <a:chOff x="877824" y="2523744"/>
            <a:chExt cx="869187" cy="265176"/>
          </a:xfrm>
        </p:grpSpPr>
        <p:sp>
          <p:nvSpPr>
            <p:cNvPr id="57" name="Rounded Rectangle 56"/>
            <p:cNvSpPr/>
            <p:nvPr/>
          </p:nvSpPr>
          <p:spPr>
            <a:xfrm>
              <a:off x="877824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4824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50.5 Ω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38451" y="2523744"/>
            <a:ext cx="1721104" cy="265176"/>
            <a:chOff x="1838451" y="2523744"/>
            <a:chExt cx="1721104" cy="265176"/>
          </a:xfrm>
        </p:grpSpPr>
        <p:sp>
          <p:nvSpPr>
            <p:cNvPr id="60" name="Rounded Rectangle 59"/>
            <p:cNvSpPr/>
            <p:nvPr/>
          </p:nvSpPr>
          <p:spPr>
            <a:xfrm>
              <a:off x="1838451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965451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0.56 mm · 22.1 mils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877824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877824" y="3310128"/>
            <a:ext cx="4733544" cy="504825"/>
            <a:chOff x="877824" y="3310128"/>
            <a:chExt cx="4733544" cy="504825"/>
          </a:xfrm>
        </p:grpSpPr>
        <p:sp>
          <p:nvSpPr>
            <p:cNvPr id="65" name="TextBox 64"/>
            <p:cNvSpPr txBox="1"/>
            <p:nvPr/>
          </p:nvSpPr>
          <p:spPr>
            <a:xfrm>
              <a:off x="877824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77824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0.049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77824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77824" y="3858768"/>
            <a:ext cx="4733544" cy="292608"/>
            <a:chOff x="877824" y="3858768"/>
            <a:chExt cx="4733544" cy="292608"/>
          </a:xfrm>
        </p:grpSpPr>
        <p:sp>
          <p:nvSpPr>
            <p:cNvPr id="69" name="TextBox 68"/>
            <p:cNvSpPr txBox="1"/>
            <p:nvPr/>
          </p:nvSpPr>
          <p:spPr>
            <a:xfrm>
              <a:off x="877824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77824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0.069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877824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77824" y="4535424"/>
            <a:ext cx="4733544" cy="504825"/>
            <a:chOff x="877824" y="4535424"/>
            <a:chExt cx="4733544" cy="504825"/>
          </a:xfrm>
        </p:grpSpPr>
        <p:sp>
          <p:nvSpPr>
            <p:cNvPr id="73" name="TextBox 72"/>
            <p:cNvSpPr txBox="1"/>
            <p:nvPr/>
          </p:nvSpPr>
          <p:spPr>
            <a:xfrm>
              <a:off x="877824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77824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35.3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mW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7824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77824" y="5084063"/>
            <a:ext cx="4733544" cy="292608"/>
            <a:chOff x="877824" y="5084063"/>
            <a:chExt cx="4733544" cy="292608"/>
          </a:xfrm>
        </p:grpSpPr>
        <p:sp>
          <p:nvSpPr>
            <p:cNvPr id="77" name="TextBox 76"/>
            <p:cNvSpPr txBox="1"/>
            <p:nvPr/>
          </p:nvSpPr>
          <p:spPr>
            <a:xfrm>
              <a:off x="877824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7824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566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6269736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9736" y="1298448"/>
            <a:ext cx="5355336" cy="45720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10253472" y="1591055"/>
            <a:ext cx="1060704" cy="1060705"/>
            <a:chOff x="10253472" y="1591055"/>
            <a:chExt cx="1060704" cy="1060705"/>
          </a:xfrm>
        </p:grpSpPr>
        <p:sp>
          <p:nvSpPr>
            <p:cNvPr id="82" name="Oval 81"/>
            <p:cNvSpPr/>
            <p:nvPr/>
          </p:nvSpPr>
          <p:spPr>
            <a:xfrm>
              <a:off x="10253472" y="1591056"/>
              <a:ext cx="1060704" cy="10607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328490" y="1666074"/>
              <a:ext cx="910666" cy="910666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746314" y="159105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42463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934917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020123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1094806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156098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1201641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687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39157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1229687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201641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1156098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1094806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1020123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934917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42463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746314" y="257674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650165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0557711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10472505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397822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336530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290987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10262941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10253472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262941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290987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336530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397822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472505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557711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0650165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736525" y="2074109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0736525" y="1979512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0818448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10818448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10736525" y="2168706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54602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10654602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6580632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0632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580632" y="2523744"/>
            <a:ext cx="869187" cy="265176"/>
            <a:chOff x="6580632" y="2523744"/>
            <a:chExt cx="869187" cy="265176"/>
          </a:xfrm>
        </p:grpSpPr>
        <p:sp>
          <p:nvSpPr>
            <p:cNvPr id="126" name="Rounded Rectangle 125"/>
            <p:cNvSpPr/>
            <p:nvPr/>
          </p:nvSpPr>
          <p:spPr>
            <a:xfrm>
              <a:off x="6580632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07632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49.8 Ω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541259" y="2523744"/>
            <a:ext cx="1721104" cy="265176"/>
            <a:chOff x="7541259" y="2523744"/>
            <a:chExt cx="1721104" cy="265176"/>
          </a:xfrm>
        </p:grpSpPr>
        <p:sp>
          <p:nvSpPr>
            <p:cNvPr id="129" name="Rounded Rectangle 128"/>
            <p:cNvSpPr/>
            <p:nvPr/>
          </p:nvSpPr>
          <p:spPr>
            <a:xfrm>
              <a:off x="7541259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668259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0.71 mm · 28.0 mils</a:t>
              </a:r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6580632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0632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80632" y="3310128"/>
            <a:ext cx="4733544" cy="504825"/>
            <a:chOff x="6580632" y="3310128"/>
            <a:chExt cx="4733544" cy="504825"/>
          </a:xfrm>
        </p:grpSpPr>
        <p:sp>
          <p:nvSpPr>
            <p:cNvPr id="134" name="TextBox 133"/>
            <p:cNvSpPr txBox="1"/>
            <p:nvPr/>
          </p:nvSpPr>
          <p:spPr>
            <a:xfrm>
              <a:off x="6580632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80632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0.335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580632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6580632" y="3858768"/>
            <a:ext cx="4733544" cy="292608"/>
            <a:chOff x="6580632" y="3858768"/>
            <a:chExt cx="4733544" cy="292608"/>
          </a:xfrm>
        </p:grpSpPr>
        <p:sp>
          <p:nvSpPr>
            <p:cNvPr id="138" name="TextBox 137"/>
            <p:cNvSpPr txBox="1"/>
            <p:nvPr/>
          </p:nvSpPr>
          <p:spPr>
            <a:xfrm>
              <a:off x="6580632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580632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0.475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6580632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6580632" y="4535424"/>
            <a:ext cx="4733544" cy="504825"/>
            <a:chOff x="6580632" y="4535424"/>
            <a:chExt cx="4733544" cy="504825"/>
          </a:xfrm>
        </p:grpSpPr>
        <p:sp>
          <p:nvSpPr>
            <p:cNvPr id="142" name="TextBox 141"/>
            <p:cNvSpPr txBox="1"/>
            <p:nvPr/>
          </p:nvSpPr>
          <p:spPr>
            <a:xfrm>
              <a:off x="6580632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580632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533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580632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80632" y="5084063"/>
            <a:ext cx="4733544" cy="292608"/>
            <a:chOff x="6580632" y="5084063"/>
            <a:chExt cx="4733544" cy="292608"/>
          </a:xfrm>
        </p:grpSpPr>
        <p:sp>
          <p:nvSpPr>
            <p:cNvPr id="146" name="TextBox 145"/>
            <p:cNvSpPr txBox="1"/>
            <p:nvPr/>
          </p:nvSpPr>
          <p:spPr>
            <a:xfrm>
              <a:off x="6580632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580632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5.1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566928" y="5760720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4A5263"/>
                </a:solidFill>
                <a:latin typeface="JetBrains Mono"/>
              </a:rPr>
              <a:t>Trade-off  ·  </a:t>
            </a:r>
            <a:r>
              <a:rPr sz="1100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6.9× lower loss</a:t>
            </a:r>
            <a:r>
              <a:rPr sz="1100" b="0" i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1100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66× lower heat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8" y="6144768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6291072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Both cables are 50 Ω. Model — Pozar conductor loss + dielectric loss with a per-conductor stranding factor K_s calibrated to the TCF-3450F insertion-loss curve (1–4 GHz); heat load is steady-state conduction across each stage's ΔT with lay-angle path corrections. Insertion loss is quoted at the 40 K → 4 K stage. The two ratios are length-independent — they are the same on every length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CABLE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5″ assembly · 127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PER-CABLE FIGURES · 50 Ω · 40 K → 4 K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355336" cy="457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4661476" y="1701868"/>
            <a:ext cx="839079" cy="839079"/>
            <a:chOff x="4661476" y="1701868"/>
            <a:chExt cx="839079" cy="839079"/>
          </a:xfrm>
        </p:grpSpPr>
        <p:sp>
          <p:nvSpPr>
            <p:cNvPr id="9" name="Oval 8"/>
            <p:cNvSpPr/>
            <p:nvPr/>
          </p:nvSpPr>
          <p:spPr>
            <a:xfrm>
              <a:off x="4661476" y="1701868"/>
              <a:ext cx="839079" cy="83907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720968" y="1761360"/>
              <a:ext cx="720094" cy="720094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51269" y="170186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118956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84587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246166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301824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49869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388840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17555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435141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441063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35141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417555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388840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869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301824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46166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84587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118956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51269" y="248145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983582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917952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856372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800715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752670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713698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84983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667397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661476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667397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684983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713698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752670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00715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856372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917952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983582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33717" y="2074109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33717" y="1979512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15640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115640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33717" y="2168706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951794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951794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77824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77824" y="2523744"/>
            <a:ext cx="869187" cy="265176"/>
            <a:chOff x="877824" y="2523744"/>
            <a:chExt cx="869187" cy="265176"/>
          </a:xfrm>
        </p:grpSpPr>
        <p:sp>
          <p:nvSpPr>
            <p:cNvPr id="57" name="Rounded Rectangle 56"/>
            <p:cNvSpPr/>
            <p:nvPr/>
          </p:nvSpPr>
          <p:spPr>
            <a:xfrm>
              <a:off x="877824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4824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50.5 Ω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38451" y="2523744"/>
            <a:ext cx="1721104" cy="265176"/>
            <a:chOff x="1838451" y="2523744"/>
            <a:chExt cx="1721104" cy="265176"/>
          </a:xfrm>
        </p:grpSpPr>
        <p:sp>
          <p:nvSpPr>
            <p:cNvPr id="60" name="Rounded Rectangle 59"/>
            <p:cNvSpPr/>
            <p:nvPr/>
          </p:nvSpPr>
          <p:spPr>
            <a:xfrm>
              <a:off x="1838451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965451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0.56 mm · 22.1 mils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877824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877824" y="3310128"/>
            <a:ext cx="4733544" cy="504825"/>
            <a:chOff x="877824" y="3310128"/>
            <a:chExt cx="4733544" cy="504825"/>
          </a:xfrm>
        </p:grpSpPr>
        <p:sp>
          <p:nvSpPr>
            <p:cNvPr id="65" name="TextBox 64"/>
            <p:cNvSpPr txBox="1"/>
            <p:nvPr/>
          </p:nvSpPr>
          <p:spPr>
            <a:xfrm>
              <a:off x="877824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77824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0.081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77824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77824" y="3858768"/>
            <a:ext cx="4733544" cy="292608"/>
            <a:chOff x="877824" y="3858768"/>
            <a:chExt cx="4733544" cy="292608"/>
          </a:xfrm>
        </p:grpSpPr>
        <p:sp>
          <p:nvSpPr>
            <p:cNvPr id="69" name="TextBox 68"/>
            <p:cNvSpPr txBox="1"/>
            <p:nvPr/>
          </p:nvSpPr>
          <p:spPr>
            <a:xfrm>
              <a:off x="877824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77824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0.115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877824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77824" y="4535424"/>
            <a:ext cx="4733544" cy="504825"/>
            <a:chOff x="877824" y="4535424"/>
            <a:chExt cx="4733544" cy="504825"/>
          </a:xfrm>
        </p:grpSpPr>
        <p:sp>
          <p:nvSpPr>
            <p:cNvPr id="73" name="TextBox 72"/>
            <p:cNvSpPr txBox="1"/>
            <p:nvPr/>
          </p:nvSpPr>
          <p:spPr>
            <a:xfrm>
              <a:off x="877824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77824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21.2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mW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7824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77824" y="5084063"/>
            <a:ext cx="4733544" cy="292608"/>
            <a:chOff x="877824" y="5084063"/>
            <a:chExt cx="4733544" cy="292608"/>
          </a:xfrm>
        </p:grpSpPr>
        <p:sp>
          <p:nvSpPr>
            <p:cNvPr id="77" name="TextBox 76"/>
            <p:cNvSpPr txBox="1"/>
            <p:nvPr/>
          </p:nvSpPr>
          <p:spPr>
            <a:xfrm>
              <a:off x="877824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7824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339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6269736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9736" y="1298448"/>
            <a:ext cx="5355336" cy="45720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10253472" y="1591055"/>
            <a:ext cx="1060704" cy="1060705"/>
            <a:chOff x="10253472" y="1591055"/>
            <a:chExt cx="1060704" cy="1060705"/>
          </a:xfrm>
        </p:grpSpPr>
        <p:sp>
          <p:nvSpPr>
            <p:cNvPr id="82" name="Oval 81"/>
            <p:cNvSpPr/>
            <p:nvPr/>
          </p:nvSpPr>
          <p:spPr>
            <a:xfrm>
              <a:off x="10253472" y="1591056"/>
              <a:ext cx="1060704" cy="10607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328490" y="1666074"/>
              <a:ext cx="910666" cy="910666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746314" y="159105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42463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934917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020123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1094806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156098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1201641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687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39157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1229687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201641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1156098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1094806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1020123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934917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42463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746314" y="257674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650165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0557711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10472505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397822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336530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290987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10262941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10253472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262941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290987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336530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397822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472505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557711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0650165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736525" y="2074109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0736525" y="1979512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0818448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10818448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10736525" y="2168706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54602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10654602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6580632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0632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580632" y="2523744"/>
            <a:ext cx="869187" cy="265176"/>
            <a:chOff x="6580632" y="2523744"/>
            <a:chExt cx="869187" cy="265176"/>
          </a:xfrm>
        </p:grpSpPr>
        <p:sp>
          <p:nvSpPr>
            <p:cNvPr id="126" name="Rounded Rectangle 125"/>
            <p:cNvSpPr/>
            <p:nvPr/>
          </p:nvSpPr>
          <p:spPr>
            <a:xfrm>
              <a:off x="6580632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07632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49.8 Ω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541259" y="2523744"/>
            <a:ext cx="1721104" cy="265176"/>
            <a:chOff x="7541259" y="2523744"/>
            <a:chExt cx="1721104" cy="265176"/>
          </a:xfrm>
        </p:grpSpPr>
        <p:sp>
          <p:nvSpPr>
            <p:cNvPr id="129" name="Rounded Rectangle 128"/>
            <p:cNvSpPr/>
            <p:nvPr/>
          </p:nvSpPr>
          <p:spPr>
            <a:xfrm>
              <a:off x="7541259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668259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0.71 mm · 28.0 mils</a:t>
              </a:r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6580632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0632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80632" y="3310128"/>
            <a:ext cx="4733544" cy="504825"/>
            <a:chOff x="6580632" y="3310128"/>
            <a:chExt cx="4733544" cy="504825"/>
          </a:xfrm>
        </p:grpSpPr>
        <p:sp>
          <p:nvSpPr>
            <p:cNvPr id="134" name="TextBox 133"/>
            <p:cNvSpPr txBox="1"/>
            <p:nvPr/>
          </p:nvSpPr>
          <p:spPr>
            <a:xfrm>
              <a:off x="6580632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80632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0.558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580632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6580632" y="3858768"/>
            <a:ext cx="4733544" cy="292608"/>
            <a:chOff x="6580632" y="3858768"/>
            <a:chExt cx="4733544" cy="292608"/>
          </a:xfrm>
        </p:grpSpPr>
        <p:sp>
          <p:nvSpPr>
            <p:cNvPr id="138" name="TextBox 137"/>
            <p:cNvSpPr txBox="1"/>
            <p:nvPr/>
          </p:nvSpPr>
          <p:spPr>
            <a:xfrm>
              <a:off x="6580632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580632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0.791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6580632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6580632" y="4535424"/>
            <a:ext cx="4733544" cy="504825"/>
            <a:chOff x="6580632" y="4535424"/>
            <a:chExt cx="4733544" cy="504825"/>
          </a:xfrm>
        </p:grpSpPr>
        <p:sp>
          <p:nvSpPr>
            <p:cNvPr id="142" name="TextBox 141"/>
            <p:cNvSpPr txBox="1"/>
            <p:nvPr/>
          </p:nvSpPr>
          <p:spPr>
            <a:xfrm>
              <a:off x="6580632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580632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320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580632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80632" y="5084063"/>
            <a:ext cx="4733544" cy="292608"/>
            <a:chOff x="6580632" y="5084063"/>
            <a:chExt cx="4733544" cy="292608"/>
          </a:xfrm>
        </p:grpSpPr>
        <p:sp>
          <p:nvSpPr>
            <p:cNvPr id="146" name="TextBox 145"/>
            <p:cNvSpPr txBox="1"/>
            <p:nvPr/>
          </p:nvSpPr>
          <p:spPr>
            <a:xfrm>
              <a:off x="6580632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580632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3.1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566928" y="5760720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4A5263"/>
                </a:solidFill>
                <a:latin typeface="JetBrains Mono"/>
              </a:rPr>
              <a:t>Trade-off  ·  </a:t>
            </a:r>
            <a:r>
              <a:rPr sz="1100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6.9× lower loss</a:t>
            </a:r>
            <a:r>
              <a:rPr sz="1100" b="0" i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1100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66× lower heat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8" y="6144768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6291072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Both cables are 50 Ω. Model — Pozar conductor loss + dielectric loss with a per-conductor stranding factor K_s calibrated to the TCF-3450F insertion-loss curve (1–4 GHz); heat load is steady-state conduction across each stage's ΔT with lay-angle path corrections. Insertion loss is quoted at the 40 K → 4 K stage. The two ratios are length-independent — they are the same on every length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CABLE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10″ assembly · 254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PER-CABLE FIGURES · 50 Ω · 40 K → 4 K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355336" cy="457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4661476" y="1701868"/>
            <a:ext cx="839079" cy="839079"/>
            <a:chOff x="4661476" y="1701868"/>
            <a:chExt cx="839079" cy="839079"/>
          </a:xfrm>
        </p:grpSpPr>
        <p:sp>
          <p:nvSpPr>
            <p:cNvPr id="9" name="Oval 8"/>
            <p:cNvSpPr/>
            <p:nvPr/>
          </p:nvSpPr>
          <p:spPr>
            <a:xfrm>
              <a:off x="4661476" y="1701868"/>
              <a:ext cx="839079" cy="83907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720968" y="1761360"/>
              <a:ext cx="720094" cy="720094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51269" y="170186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118956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84587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246166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301824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49869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388840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17555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435141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441063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35141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417555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388840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869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301824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46166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84587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118956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51269" y="248145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983582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917952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856372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800715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752670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713698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84983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667397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661476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667397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684983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713698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752670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00715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856372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917952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983582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33717" y="2074109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33717" y="1979512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15640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115640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33717" y="2168706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951794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951794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77824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77824" y="2523744"/>
            <a:ext cx="869187" cy="265176"/>
            <a:chOff x="877824" y="2523744"/>
            <a:chExt cx="869187" cy="265176"/>
          </a:xfrm>
        </p:grpSpPr>
        <p:sp>
          <p:nvSpPr>
            <p:cNvPr id="57" name="Rounded Rectangle 56"/>
            <p:cNvSpPr/>
            <p:nvPr/>
          </p:nvSpPr>
          <p:spPr>
            <a:xfrm>
              <a:off x="877824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4824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50.5 Ω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38451" y="2523744"/>
            <a:ext cx="1721104" cy="265176"/>
            <a:chOff x="1838451" y="2523744"/>
            <a:chExt cx="1721104" cy="265176"/>
          </a:xfrm>
        </p:grpSpPr>
        <p:sp>
          <p:nvSpPr>
            <p:cNvPr id="60" name="Rounded Rectangle 59"/>
            <p:cNvSpPr/>
            <p:nvPr/>
          </p:nvSpPr>
          <p:spPr>
            <a:xfrm>
              <a:off x="1838451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965451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0.56 mm · 22.1 mils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877824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877824" y="3310128"/>
            <a:ext cx="4733544" cy="504825"/>
            <a:chOff x="877824" y="3310128"/>
            <a:chExt cx="4733544" cy="504825"/>
          </a:xfrm>
        </p:grpSpPr>
        <p:sp>
          <p:nvSpPr>
            <p:cNvPr id="65" name="TextBox 64"/>
            <p:cNvSpPr txBox="1"/>
            <p:nvPr/>
          </p:nvSpPr>
          <p:spPr>
            <a:xfrm>
              <a:off x="877824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77824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0.162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77824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77824" y="3858768"/>
            <a:ext cx="4733544" cy="292608"/>
            <a:chOff x="877824" y="3858768"/>
            <a:chExt cx="4733544" cy="292608"/>
          </a:xfrm>
        </p:grpSpPr>
        <p:sp>
          <p:nvSpPr>
            <p:cNvPr id="69" name="TextBox 68"/>
            <p:cNvSpPr txBox="1"/>
            <p:nvPr/>
          </p:nvSpPr>
          <p:spPr>
            <a:xfrm>
              <a:off x="877824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77824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0.230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877824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77824" y="4535424"/>
            <a:ext cx="4733544" cy="504825"/>
            <a:chOff x="877824" y="4535424"/>
            <a:chExt cx="4733544" cy="504825"/>
          </a:xfrm>
        </p:grpSpPr>
        <p:sp>
          <p:nvSpPr>
            <p:cNvPr id="73" name="TextBox 72"/>
            <p:cNvSpPr txBox="1"/>
            <p:nvPr/>
          </p:nvSpPr>
          <p:spPr>
            <a:xfrm>
              <a:off x="877824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77824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10.6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mW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7824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77824" y="5084063"/>
            <a:ext cx="4733544" cy="292608"/>
            <a:chOff x="877824" y="5084063"/>
            <a:chExt cx="4733544" cy="292608"/>
          </a:xfrm>
        </p:grpSpPr>
        <p:sp>
          <p:nvSpPr>
            <p:cNvPr id="77" name="TextBox 76"/>
            <p:cNvSpPr txBox="1"/>
            <p:nvPr/>
          </p:nvSpPr>
          <p:spPr>
            <a:xfrm>
              <a:off x="877824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7824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170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6269736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9736" y="1298448"/>
            <a:ext cx="5355336" cy="45720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10253472" y="1591055"/>
            <a:ext cx="1060704" cy="1060705"/>
            <a:chOff x="10253472" y="1591055"/>
            <a:chExt cx="1060704" cy="1060705"/>
          </a:xfrm>
        </p:grpSpPr>
        <p:sp>
          <p:nvSpPr>
            <p:cNvPr id="82" name="Oval 81"/>
            <p:cNvSpPr/>
            <p:nvPr/>
          </p:nvSpPr>
          <p:spPr>
            <a:xfrm>
              <a:off x="10253472" y="1591056"/>
              <a:ext cx="1060704" cy="10607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328490" y="1666074"/>
              <a:ext cx="910666" cy="910666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746314" y="159105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42463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934917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020123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1094806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156098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1201641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687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39157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1229687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201641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1156098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1094806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1020123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934917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42463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746314" y="257674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650165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0557711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10472505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397822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336530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290987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10262941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10253472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262941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290987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336530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397822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472505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557711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0650165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736525" y="2074109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0736525" y="1979512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0818448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10818448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10736525" y="2168706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54602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10654602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6580632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0632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580632" y="2523744"/>
            <a:ext cx="869187" cy="265176"/>
            <a:chOff x="6580632" y="2523744"/>
            <a:chExt cx="869187" cy="265176"/>
          </a:xfrm>
        </p:grpSpPr>
        <p:sp>
          <p:nvSpPr>
            <p:cNvPr id="126" name="Rounded Rectangle 125"/>
            <p:cNvSpPr/>
            <p:nvPr/>
          </p:nvSpPr>
          <p:spPr>
            <a:xfrm>
              <a:off x="6580632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07632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49.8 Ω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541259" y="2523744"/>
            <a:ext cx="1721104" cy="265176"/>
            <a:chOff x="7541259" y="2523744"/>
            <a:chExt cx="1721104" cy="265176"/>
          </a:xfrm>
        </p:grpSpPr>
        <p:sp>
          <p:nvSpPr>
            <p:cNvPr id="129" name="Rounded Rectangle 128"/>
            <p:cNvSpPr/>
            <p:nvPr/>
          </p:nvSpPr>
          <p:spPr>
            <a:xfrm>
              <a:off x="7541259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668259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0.71 mm · 28.0 mils</a:t>
              </a:r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6580632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0632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80632" y="3310128"/>
            <a:ext cx="4733544" cy="504825"/>
            <a:chOff x="6580632" y="3310128"/>
            <a:chExt cx="4733544" cy="504825"/>
          </a:xfrm>
        </p:grpSpPr>
        <p:sp>
          <p:nvSpPr>
            <p:cNvPr id="134" name="TextBox 133"/>
            <p:cNvSpPr txBox="1"/>
            <p:nvPr/>
          </p:nvSpPr>
          <p:spPr>
            <a:xfrm>
              <a:off x="6580632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80632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1.12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580632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6580632" y="3858768"/>
            <a:ext cx="4733544" cy="292608"/>
            <a:chOff x="6580632" y="3858768"/>
            <a:chExt cx="4733544" cy="292608"/>
          </a:xfrm>
        </p:grpSpPr>
        <p:sp>
          <p:nvSpPr>
            <p:cNvPr id="138" name="TextBox 137"/>
            <p:cNvSpPr txBox="1"/>
            <p:nvPr/>
          </p:nvSpPr>
          <p:spPr>
            <a:xfrm>
              <a:off x="6580632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580632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1.58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6580632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6580632" y="4535424"/>
            <a:ext cx="4733544" cy="504825"/>
            <a:chOff x="6580632" y="4535424"/>
            <a:chExt cx="4733544" cy="504825"/>
          </a:xfrm>
        </p:grpSpPr>
        <p:sp>
          <p:nvSpPr>
            <p:cNvPr id="142" name="TextBox 141"/>
            <p:cNvSpPr txBox="1"/>
            <p:nvPr/>
          </p:nvSpPr>
          <p:spPr>
            <a:xfrm>
              <a:off x="6580632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580632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160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580632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80632" y="5084063"/>
            <a:ext cx="4733544" cy="292608"/>
            <a:chOff x="6580632" y="5084063"/>
            <a:chExt cx="4733544" cy="292608"/>
          </a:xfrm>
        </p:grpSpPr>
        <p:sp>
          <p:nvSpPr>
            <p:cNvPr id="146" name="TextBox 145"/>
            <p:cNvSpPr txBox="1"/>
            <p:nvPr/>
          </p:nvSpPr>
          <p:spPr>
            <a:xfrm>
              <a:off x="6580632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580632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1.5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566928" y="5760720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4A5263"/>
                </a:solidFill>
                <a:latin typeface="JetBrains Mono"/>
              </a:rPr>
              <a:t>Trade-off  ·  </a:t>
            </a:r>
            <a:r>
              <a:rPr sz="1100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6.9× lower loss</a:t>
            </a:r>
            <a:r>
              <a:rPr sz="1100" b="0" i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1100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66× lower heat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8" y="6144768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6291072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Both cables are 50 Ω. Model — Pozar conductor loss + dielectric loss with a per-conductor stranding factor K_s calibrated to the TCF-3450F insertion-loss curve (1–4 GHz); heat load is steady-state conduction across each stage's ΔT with lay-angle path corrections. Insertion loss is quoted at the 40 K → 4 K stage. The two ratios are length-independent — they are the same on every length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CABLE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15″ assembly · 381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PER-CABLE FIGURES · 50 Ω · 40 K → 4 K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355336" cy="457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4661476" y="1701868"/>
            <a:ext cx="839079" cy="839079"/>
            <a:chOff x="4661476" y="1701868"/>
            <a:chExt cx="839079" cy="839079"/>
          </a:xfrm>
        </p:grpSpPr>
        <p:sp>
          <p:nvSpPr>
            <p:cNvPr id="9" name="Oval 8"/>
            <p:cNvSpPr/>
            <p:nvPr/>
          </p:nvSpPr>
          <p:spPr>
            <a:xfrm>
              <a:off x="4661476" y="1701868"/>
              <a:ext cx="839079" cy="83907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720968" y="1761360"/>
              <a:ext cx="720094" cy="720094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51269" y="170186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118956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84587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246166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301824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49869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388840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17555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435141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441063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35141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417555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388840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869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301824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46166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84587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118956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51269" y="248145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983582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917952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856372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800715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752670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713698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84983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667397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661476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667397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684983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713698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752670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00715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856372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917952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983582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33717" y="2074109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33717" y="1979512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15640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115640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33717" y="2168706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951794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951794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77824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77824" y="2523744"/>
            <a:ext cx="869187" cy="265176"/>
            <a:chOff x="877824" y="2523744"/>
            <a:chExt cx="869187" cy="265176"/>
          </a:xfrm>
        </p:grpSpPr>
        <p:sp>
          <p:nvSpPr>
            <p:cNvPr id="57" name="Rounded Rectangle 56"/>
            <p:cNvSpPr/>
            <p:nvPr/>
          </p:nvSpPr>
          <p:spPr>
            <a:xfrm>
              <a:off x="877824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4824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50.5 Ω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38451" y="2523744"/>
            <a:ext cx="1721104" cy="265176"/>
            <a:chOff x="1838451" y="2523744"/>
            <a:chExt cx="1721104" cy="265176"/>
          </a:xfrm>
        </p:grpSpPr>
        <p:sp>
          <p:nvSpPr>
            <p:cNvPr id="60" name="Rounded Rectangle 59"/>
            <p:cNvSpPr/>
            <p:nvPr/>
          </p:nvSpPr>
          <p:spPr>
            <a:xfrm>
              <a:off x="1838451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965451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0.56 mm · 22.1 mils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877824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877824" y="3310128"/>
            <a:ext cx="4733544" cy="504825"/>
            <a:chOff x="877824" y="3310128"/>
            <a:chExt cx="4733544" cy="504825"/>
          </a:xfrm>
        </p:grpSpPr>
        <p:sp>
          <p:nvSpPr>
            <p:cNvPr id="65" name="TextBox 64"/>
            <p:cNvSpPr txBox="1"/>
            <p:nvPr/>
          </p:nvSpPr>
          <p:spPr>
            <a:xfrm>
              <a:off x="877824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77824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0.243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77824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77824" y="3858768"/>
            <a:ext cx="4733544" cy="292608"/>
            <a:chOff x="877824" y="3858768"/>
            <a:chExt cx="4733544" cy="292608"/>
          </a:xfrm>
        </p:grpSpPr>
        <p:sp>
          <p:nvSpPr>
            <p:cNvPr id="69" name="TextBox 68"/>
            <p:cNvSpPr txBox="1"/>
            <p:nvPr/>
          </p:nvSpPr>
          <p:spPr>
            <a:xfrm>
              <a:off x="877824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77824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0.346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877824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77824" y="4535424"/>
            <a:ext cx="4733544" cy="504825"/>
            <a:chOff x="877824" y="4535424"/>
            <a:chExt cx="4733544" cy="504825"/>
          </a:xfrm>
        </p:grpSpPr>
        <p:sp>
          <p:nvSpPr>
            <p:cNvPr id="73" name="TextBox 72"/>
            <p:cNvSpPr txBox="1"/>
            <p:nvPr/>
          </p:nvSpPr>
          <p:spPr>
            <a:xfrm>
              <a:off x="877824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77824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7.07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mW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7824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77824" y="5084063"/>
            <a:ext cx="4733544" cy="292608"/>
            <a:chOff x="877824" y="5084063"/>
            <a:chExt cx="4733544" cy="292608"/>
          </a:xfrm>
        </p:grpSpPr>
        <p:sp>
          <p:nvSpPr>
            <p:cNvPr id="77" name="TextBox 76"/>
            <p:cNvSpPr txBox="1"/>
            <p:nvPr/>
          </p:nvSpPr>
          <p:spPr>
            <a:xfrm>
              <a:off x="877824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7824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113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6269736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9736" y="1298448"/>
            <a:ext cx="5355336" cy="45720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10253472" y="1591055"/>
            <a:ext cx="1060704" cy="1060705"/>
            <a:chOff x="10253472" y="1591055"/>
            <a:chExt cx="1060704" cy="1060705"/>
          </a:xfrm>
        </p:grpSpPr>
        <p:sp>
          <p:nvSpPr>
            <p:cNvPr id="82" name="Oval 81"/>
            <p:cNvSpPr/>
            <p:nvPr/>
          </p:nvSpPr>
          <p:spPr>
            <a:xfrm>
              <a:off x="10253472" y="1591056"/>
              <a:ext cx="1060704" cy="10607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328490" y="1666074"/>
              <a:ext cx="910666" cy="910666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746314" y="159105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42463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934917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020123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1094806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156098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1201641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687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39157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1229687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201641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1156098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1094806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1020123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934917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42463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746314" y="257674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650165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0557711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10472505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397822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336530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290987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10262941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10253472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262941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290987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336530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397822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472505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557711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0650165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736525" y="2074109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0736525" y="1979512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0818448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10818448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10736525" y="2168706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54602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10654602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6580632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0632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580632" y="2523744"/>
            <a:ext cx="869187" cy="265176"/>
            <a:chOff x="6580632" y="2523744"/>
            <a:chExt cx="869187" cy="265176"/>
          </a:xfrm>
        </p:grpSpPr>
        <p:sp>
          <p:nvSpPr>
            <p:cNvPr id="126" name="Rounded Rectangle 125"/>
            <p:cNvSpPr/>
            <p:nvPr/>
          </p:nvSpPr>
          <p:spPr>
            <a:xfrm>
              <a:off x="6580632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07632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49.8 Ω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541259" y="2523744"/>
            <a:ext cx="1721104" cy="265176"/>
            <a:chOff x="7541259" y="2523744"/>
            <a:chExt cx="1721104" cy="265176"/>
          </a:xfrm>
        </p:grpSpPr>
        <p:sp>
          <p:nvSpPr>
            <p:cNvPr id="129" name="Rounded Rectangle 128"/>
            <p:cNvSpPr/>
            <p:nvPr/>
          </p:nvSpPr>
          <p:spPr>
            <a:xfrm>
              <a:off x="7541259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668259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0.71 mm · 28.0 mils</a:t>
              </a:r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6580632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0632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80632" y="3310128"/>
            <a:ext cx="4733544" cy="504825"/>
            <a:chOff x="6580632" y="3310128"/>
            <a:chExt cx="4733544" cy="504825"/>
          </a:xfrm>
        </p:grpSpPr>
        <p:sp>
          <p:nvSpPr>
            <p:cNvPr id="134" name="TextBox 133"/>
            <p:cNvSpPr txBox="1"/>
            <p:nvPr/>
          </p:nvSpPr>
          <p:spPr>
            <a:xfrm>
              <a:off x="6580632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80632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1.67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580632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6580632" y="3858768"/>
            <a:ext cx="4733544" cy="292608"/>
            <a:chOff x="6580632" y="3858768"/>
            <a:chExt cx="4733544" cy="292608"/>
          </a:xfrm>
        </p:grpSpPr>
        <p:sp>
          <p:nvSpPr>
            <p:cNvPr id="138" name="TextBox 137"/>
            <p:cNvSpPr txBox="1"/>
            <p:nvPr/>
          </p:nvSpPr>
          <p:spPr>
            <a:xfrm>
              <a:off x="6580632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580632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2.37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6580632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6580632" y="4535424"/>
            <a:ext cx="4733544" cy="504825"/>
            <a:chOff x="6580632" y="4535424"/>
            <a:chExt cx="4733544" cy="504825"/>
          </a:xfrm>
        </p:grpSpPr>
        <p:sp>
          <p:nvSpPr>
            <p:cNvPr id="142" name="TextBox 141"/>
            <p:cNvSpPr txBox="1"/>
            <p:nvPr/>
          </p:nvSpPr>
          <p:spPr>
            <a:xfrm>
              <a:off x="6580632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580632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107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580632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80632" y="5084063"/>
            <a:ext cx="4733544" cy="292608"/>
            <a:chOff x="6580632" y="5084063"/>
            <a:chExt cx="4733544" cy="292608"/>
          </a:xfrm>
        </p:grpSpPr>
        <p:sp>
          <p:nvSpPr>
            <p:cNvPr id="146" name="TextBox 145"/>
            <p:cNvSpPr txBox="1"/>
            <p:nvPr/>
          </p:nvSpPr>
          <p:spPr>
            <a:xfrm>
              <a:off x="6580632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580632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1.0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566928" y="5760720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4A5263"/>
                </a:solidFill>
                <a:latin typeface="JetBrains Mono"/>
              </a:rPr>
              <a:t>Trade-off  ·  </a:t>
            </a:r>
            <a:r>
              <a:rPr sz="1100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6.9× lower loss</a:t>
            </a:r>
            <a:r>
              <a:rPr sz="1100" b="0" i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1100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66× lower heat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8" y="6144768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6291072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Both cables are 50 Ω. Model — Pozar conductor loss + dielectric loss with a per-conductor stranding factor K_s calibrated to the TCF-3450F insertion-loss curve (1–4 GHz); heat load is steady-state conduction across each stage's ΔT with lay-angle path corrections. Insertion loss is quoted at the 40 K → 4 K stage. The two ratios are length-independent — they are the same on every length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CABLE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18″ assembly · 457 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PER-CABLE FIGURES · 50 Ω · 40 K → 4 K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355336" cy="457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4661476" y="1701868"/>
            <a:ext cx="839079" cy="839079"/>
            <a:chOff x="4661476" y="1701868"/>
            <a:chExt cx="839079" cy="839079"/>
          </a:xfrm>
        </p:grpSpPr>
        <p:sp>
          <p:nvSpPr>
            <p:cNvPr id="9" name="Oval 8"/>
            <p:cNvSpPr/>
            <p:nvPr/>
          </p:nvSpPr>
          <p:spPr>
            <a:xfrm>
              <a:off x="4661476" y="1701868"/>
              <a:ext cx="839079" cy="83907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720968" y="1761360"/>
              <a:ext cx="720094" cy="720094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051269" y="170186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5118956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84587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246166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5301824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349869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5388840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17555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5435141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5441063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435141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417555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5388840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869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5301824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46166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184587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5118956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051269" y="248145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4983582" y="2475533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4917952" y="245794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4856372" y="242923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800715" y="23902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4752670" y="2342216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713698" y="228655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4684983" y="222497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4667397" y="2159348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661476" y="2091661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667397" y="202397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684983" y="195834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713698" y="1896764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752670" y="1841107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800715" y="1793062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856372" y="1754090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4917952" y="1725375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983582" y="1707789"/>
              <a:ext cx="59492" cy="59492"/>
            </a:xfrm>
            <a:prstGeom prst="ellipse">
              <a:avLst/>
            </a:prstGeom>
            <a:solidFill>
              <a:srgbClr val="B87333"/>
            </a:solidFill>
            <a:ln w="4445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5033717" y="2074109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5033717" y="1979512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115640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115640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033717" y="2168706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4951794" y="2121408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951794" y="2026811"/>
              <a:ext cx="94596" cy="94596"/>
            </a:xfrm>
            <a:prstGeom prst="ellipse">
              <a:avLst/>
            </a:prstGeom>
            <a:solidFill>
              <a:srgbClr val="B87333"/>
            </a:solidFill>
            <a:ln w="5080">
              <a:solidFill>
                <a:srgbClr val="9559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77824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SPC / FEP-foam / 46 AWG SPC serve shield, 50 Ω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77824" y="2523744"/>
            <a:ext cx="869187" cy="265176"/>
            <a:chOff x="877824" y="2523744"/>
            <a:chExt cx="869187" cy="265176"/>
          </a:xfrm>
        </p:grpSpPr>
        <p:sp>
          <p:nvSpPr>
            <p:cNvPr id="57" name="Rounded Rectangle 56"/>
            <p:cNvSpPr/>
            <p:nvPr/>
          </p:nvSpPr>
          <p:spPr>
            <a:xfrm>
              <a:off x="877824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4824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50.5 Ω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838451" y="2523744"/>
            <a:ext cx="1721104" cy="265176"/>
            <a:chOff x="1838451" y="2523744"/>
            <a:chExt cx="1721104" cy="265176"/>
          </a:xfrm>
        </p:grpSpPr>
        <p:sp>
          <p:nvSpPr>
            <p:cNvPr id="60" name="Rounded Rectangle 59"/>
            <p:cNvSpPr/>
            <p:nvPr/>
          </p:nvSpPr>
          <p:spPr>
            <a:xfrm>
              <a:off x="1838451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965451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0.56 mm · 22.1 mils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877824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877824" y="3310128"/>
            <a:ext cx="4733544" cy="504825"/>
            <a:chOff x="877824" y="3310128"/>
            <a:chExt cx="4733544" cy="504825"/>
          </a:xfrm>
        </p:grpSpPr>
        <p:sp>
          <p:nvSpPr>
            <p:cNvPr id="65" name="TextBox 64"/>
            <p:cNvSpPr txBox="1"/>
            <p:nvPr/>
          </p:nvSpPr>
          <p:spPr>
            <a:xfrm>
              <a:off x="877824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77824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0.291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77824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77824" y="3858768"/>
            <a:ext cx="4733544" cy="292608"/>
            <a:chOff x="877824" y="3858768"/>
            <a:chExt cx="4733544" cy="292608"/>
          </a:xfrm>
        </p:grpSpPr>
        <p:sp>
          <p:nvSpPr>
            <p:cNvPr id="69" name="TextBox 68"/>
            <p:cNvSpPr txBox="1"/>
            <p:nvPr/>
          </p:nvSpPr>
          <p:spPr>
            <a:xfrm>
              <a:off x="877824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77824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0.415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877824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77824" y="4535424"/>
            <a:ext cx="4733544" cy="504825"/>
            <a:chOff x="877824" y="4535424"/>
            <a:chExt cx="4733544" cy="504825"/>
          </a:xfrm>
        </p:grpSpPr>
        <p:sp>
          <p:nvSpPr>
            <p:cNvPr id="73" name="TextBox 72"/>
            <p:cNvSpPr txBox="1"/>
            <p:nvPr/>
          </p:nvSpPr>
          <p:spPr>
            <a:xfrm>
              <a:off x="877824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77824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5.89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mW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7824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77824" y="5084063"/>
            <a:ext cx="4733544" cy="292608"/>
            <a:chOff x="877824" y="5084063"/>
            <a:chExt cx="4733544" cy="292608"/>
          </a:xfrm>
        </p:grpSpPr>
        <p:sp>
          <p:nvSpPr>
            <p:cNvPr id="77" name="TextBox 76"/>
            <p:cNvSpPr txBox="1"/>
            <p:nvPr/>
          </p:nvSpPr>
          <p:spPr>
            <a:xfrm>
              <a:off x="877824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77824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94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6269736" y="1298448"/>
            <a:ext cx="535533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C"/>
            </a:solidFill>
          </a:ln>
          <a:effectLst>
            <a:outerShdw blurRad="165100" dist="50800" dir="5400000" rotWithShape="0">
              <a:srgbClr val="1B2433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9736" y="1298448"/>
            <a:ext cx="5355336" cy="45720"/>
          </a:xfrm>
          <a:prstGeom prst="rect">
            <a:avLst/>
          </a:prstGeom>
          <a:solidFill>
            <a:srgbClr val="B9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10253472" y="1591055"/>
            <a:ext cx="1060704" cy="1060705"/>
            <a:chOff x="10253472" y="1591055"/>
            <a:chExt cx="1060704" cy="1060705"/>
          </a:xfrm>
        </p:grpSpPr>
        <p:sp>
          <p:nvSpPr>
            <p:cNvPr id="82" name="Oval 81"/>
            <p:cNvSpPr/>
            <p:nvPr/>
          </p:nvSpPr>
          <p:spPr>
            <a:xfrm>
              <a:off x="10253472" y="1591056"/>
              <a:ext cx="1060704" cy="106070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2E6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328490" y="1666074"/>
              <a:ext cx="910666" cy="910666"/>
            </a:xfrm>
            <a:prstGeom prst="ellipse">
              <a:avLst/>
            </a:prstGeom>
            <a:solidFill>
              <a:srgbClr val="C9D6E9"/>
            </a:solidFill>
            <a:ln w="6350">
              <a:solidFill>
                <a:srgbClr val="C2D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746314" y="159105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42463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0934917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1020123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1094806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1156098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1201641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1229687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11239157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11229687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11201641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11156098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11094806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1020123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934917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42463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10746314" y="257674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10650165" y="25672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10557711" y="25392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10472505" y="2493682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10397822" y="2432390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10336530" y="235770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290987" y="227250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10262941" y="2180047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10253472" y="2083898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10262941" y="198774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10290987" y="189529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336530" y="1810089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397822" y="1735406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472505" y="1674114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10557711" y="1628571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10650165" y="1600525"/>
              <a:ext cx="75018" cy="75018"/>
            </a:xfrm>
            <a:prstGeom prst="ellipse">
              <a:avLst/>
            </a:prstGeom>
            <a:solidFill>
              <a:srgbClr val="C9A64A"/>
            </a:solidFill>
            <a:ln w="4445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10736525" y="2074109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10736525" y="1979512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10818448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10818448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10736525" y="2168706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54602" y="2121408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10654602" y="2026811"/>
              <a:ext cx="94596" cy="94596"/>
            </a:xfrm>
            <a:prstGeom prst="ellipse">
              <a:avLst/>
            </a:prstGeom>
            <a:solidFill>
              <a:srgbClr val="C9A64A"/>
            </a:solidFill>
            <a:ln w="5080">
              <a:solidFill>
                <a:srgbClr val="9C7C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6580632" y="1536192"/>
            <a:ext cx="336194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 spc="-2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0632" y="1865376"/>
            <a:ext cx="3361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4A5263"/>
                </a:solidFill>
                <a:latin typeface="Inter"/>
              </a:rPr>
              <a:t>34 AWG (7×42) C27000 brass / PFA / 44 AWG brass spiral shield, 50 Ω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580632" y="2523744"/>
            <a:ext cx="869187" cy="265176"/>
            <a:chOff x="6580632" y="2523744"/>
            <a:chExt cx="869187" cy="265176"/>
          </a:xfrm>
        </p:grpSpPr>
        <p:sp>
          <p:nvSpPr>
            <p:cNvPr id="126" name="Rounded Rectangle 125"/>
            <p:cNvSpPr/>
            <p:nvPr/>
          </p:nvSpPr>
          <p:spPr>
            <a:xfrm>
              <a:off x="6580632" y="2523744"/>
              <a:ext cx="869187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707632" y="2523744"/>
              <a:ext cx="615187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Z₀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49.8 Ω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541259" y="2523744"/>
            <a:ext cx="1721104" cy="265176"/>
            <a:chOff x="7541259" y="2523744"/>
            <a:chExt cx="1721104" cy="265176"/>
          </a:xfrm>
        </p:grpSpPr>
        <p:sp>
          <p:nvSpPr>
            <p:cNvPr id="129" name="Rounded Rectangle 128"/>
            <p:cNvSpPr/>
            <p:nvPr/>
          </p:nvSpPr>
          <p:spPr>
            <a:xfrm>
              <a:off x="7541259" y="2523744"/>
              <a:ext cx="1721104" cy="265176"/>
            </a:xfrm>
            <a:prstGeom prst="roundRect">
              <a:avLst>
                <a:gd name="adj" fmla="val 42000"/>
              </a:avLst>
            </a:prstGeom>
            <a:solidFill>
              <a:srgbClr val="F7F9FC"/>
            </a:solidFill>
            <a:ln w="9525">
              <a:solidFill>
                <a:srgbClr val="E2E6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668259" y="2523744"/>
              <a:ext cx="146710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60" b="0" i="0">
                  <a:solidFill>
                    <a:srgbClr val="8A93A6"/>
                  </a:solidFill>
                  <a:latin typeface="JetBrains Mono"/>
                </a:rPr>
                <a:t>OD </a:t>
              </a:r>
              <a:r>
                <a:rPr sz="860" b="1" i="0">
                  <a:solidFill>
                    <a:srgbClr val="4A5263"/>
                  </a:solidFill>
                  <a:latin typeface="JetBrains Mono"/>
                </a:rPr>
                <a:t>0.71 mm · 28.0 mils</a:t>
              </a:r>
            </a:p>
          </p:txBody>
        </p:sp>
      </p:grpSp>
      <p:sp>
        <p:nvSpPr>
          <p:cNvPr id="131" name="Rectangle 130"/>
          <p:cNvSpPr/>
          <p:nvPr/>
        </p:nvSpPr>
        <p:spPr>
          <a:xfrm>
            <a:off x="6580632" y="2999232"/>
            <a:ext cx="47335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0632" y="3108960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RF INSERTION LOSS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80632" y="3310128"/>
            <a:ext cx="4733544" cy="504825"/>
            <a:chOff x="6580632" y="3310128"/>
            <a:chExt cx="4733544" cy="504825"/>
          </a:xfrm>
        </p:grpSpPr>
        <p:sp>
          <p:nvSpPr>
            <p:cNvPr id="134" name="TextBox 133"/>
            <p:cNvSpPr txBox="1"/>
            <p:nvPr/>
          </p:nvSpPr>
          <p:spPr>
            <a:xfrm>
              <a:off x="6580632" y="3310128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2 GHz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80632" y="3310128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2.01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6580632" y="3805428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6580632" y="3858768"/>
            <a:ext cx="4733544" cy="292608"/>
            <a:chOff x="6580632" y="3858768"/>
            <a:chExt cx="4733544" cy="292608"/>
          </a:xfrm>
        </p:grpSpPr>
        <p:sp>
          <p:nvSpPr>
            <p:cNvPr id="138" name="TextBox 137"/>
            <p:cNvSpPr txBox="1"/>
            <p:nvPr/>
          </p:nvSpPr>
          <p:spPr>
            <a:xfrm>
              <a:off x="6580632" y="3858768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GHz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580632" y="3858768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2.85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dB</a:t>
              </a: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6580632" y="4334256"/>
            <a:ext cx="4733544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60" b="1" i="0" spc="120">
                <a:solidFill>
                  <a:srgbClr val="8A93A6"/>
                </a:solidFill>
                <a:latin typeface="Inter"/>
              </a:rPr>
              <a:t>CONDUCTED HEAT LOAD · PER CABLE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6580632" y="4535424"/>
            <a:ext cx="4733544" cy="504825"/>
            <a:chOff x="6580632" y="4535424"/>
            <a:chExt cx="4733544" cy="504825"/>
          </a:xfrm>
        </p:grpSpPr>
        <p:sp>
          <p:nvSpPr>
            <p:cNvPr id="142" name="TextBox 141"/>
            <p:cNvSpPr txBox="1"/>
            <p:nvPr/>
          </p:nvSpPr>
          <p:spPr>
            <a:xfrm>
              <a:off x="6580632" y="4535424"/>
              <a:ext cx="2130094" cy="457200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40 K → 4 K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580632" y="4535424"/>
              <a:ext cx="4733544" cy="457200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3000" b="1" i="0" spc="-30">
                  <a:solidFill>
                    <a:srgbClr val="161B24"/>
                  </a:solidFill>
                  <a:latin typeface="JetBrains Mono"/>
                </a:rPr>
                <a:t>89</a:t>
              </a:r>
              <a:r>
                <a:rPr sz="1260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580632" y="5030724"/>
              <a:ext cx="4733544" cy="952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80632" y="5084063"/>
            <a:ext cx="4733544" cy="292608"/>
            <a:chOff x="6580632" y="5084063"/>
            <a:chExt cx="4733544" cy="292608"/>
          </a:xfrm>
        </p:grpSpPr>
        <p:sp>
          <p:nvSpPr>
            <p:cNvPr id="146" name="TextBox 145"/>
            <p:cNvSpPr txBox="1"/>
            <p:nvPr/>
          </p:nvSpPr>
          <p:spPr>
            <a:xfrm>
              <a:off x="6580632" y="5084063"/>
              <a:ext cx="2130094" cy="292608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l"/>
              <a:r>
                <a:rPr sz="960" b="0" i="0">
                  <a:solidFill>
                    <a:srgbClr val="4A5263"/>
                  </a:solidFill>
                  <a:latin typeface="JetBrains Mono"/>
                </a:rPr>
                <a:t>4 K → 1 K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580632" y="5084063"/>
              <a:ext cx="4733544" cy="292608"/>
            </a:xfrm>
            <a:prstGeom prst="rect">
              <a:avLst/>
            </a:prstGeom>
            <a:noFill/>
          </p:spPr>
          <p:txBody>
            <a:bodyPr wrap="none" lIns="0" rIns="0" tIns="0" bIns="0" anchor="b">
              <a:noAutofit/>
            </a:bodyPr>
            <a:lstStyle/>
            <a:p>
              <a:pPr algn="r">
                <a:lnSpc>
                  <a:spcPct val="95000"/>
                </a:lnSpc>
              </a:pPr>
              <a:r>
                <a:rPr sz="1600" b="1" i="0" spc="-30">
                  <a:solidFill>
                    <a:srgbClr val="4A5263"/>
                  </a:solidFill>
                  <a:latin typeface="JetBrains Mono"/>
                </a:rPr>
                <a:t>0.8</a:t>
              </a:r>
              <a:r>
                <a:rPr sz="819" b="0" i="0">
                  <a:solidFill>
                    <a:srgbClr val="8A93A6"/>
                  </a:solidFill>
                  <a:latin typeface="JetBrains Mono"/>
                </a:rPr>
                <a:t> µW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566928" y="5760720"/>
            <a:ext cx="110581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4A5263"/>
                </a:solidFill>
                <a:latin typeface="JetBrains Mono"/>
              </a:rPr>
              <a:t>Trade-off  ·  </a:t>
            </a:r>
            <a:r>
              <a:rPr sz="1100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6.9× lower loss</a:t>
            </a:r>
            <a:r>
              <a:rPr sz="1100" b="0" i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1100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100" b="0" i="0">
                <a:solidFill>
                  <a:srgbClr val="4A5263"/>
                </a:solidFill>
                <a:latin typeface="JetBrains Mono"/>
              </a:rPr>
              <a:t>  66× lower heat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8" y="6144768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6291072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Both cables are 50 Ω. Model — Pozar conductor loss + dielectric loss with a per-conductor stranding factor K_s calibrated to the TCF-3450F insertion-loss curve (1–4 GHz); heat load is steady-state conduction across each stage's ΔT with lay-angle path corrections. Insertion loss is quoted at the 40 K → 4 K stage. The two ratios are length-independent — they are the same on every length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7315200" cy="22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spc="70">
                <a:solidFill>
                  <a:srgbClr val="2A6FB0"/>
                </a:solidFill>
                <a:latin typeface="JetBrains Mono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 spc="-50">
                <a:solidFill>
                  <a:srgbClr val="161B24"/>
                </a:solidFill>
                <a:latin typeface="Inter"/>
              </a:rPr>
              <a:t>All five lengths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7312" y="822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19" b="0" i="0" spc="110">
                <a:solidFill>
                  <a:srgbClr val="8A93A6"/>
                </a:solidFill>
                <a:latin typeface="Inter"/>
              </a:rPr>
              <a:t>FULL HARNESS · 208 (13 cables of 16 lines)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536192"/>
          <a:ext cx="1097280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5840"/>
                <a:gridCol w="960120"/>
                <a:gridCol w="914400"/>
                <a:gridCol w="914400"/>
                <a:gridCol w="1097280"/>
                <a:gridCol w="1097280"/>
                <a:gridCol w="960120"/>
                <a:gridCol w="914400"/>
                <a:gridCol w="914400"/>
                <a:gridCol w="1097280"/>
                <a:gridCol w="1097280"/>
              </a:tblGrid>
              <a:tr h="365760">
                <a:tc rowSpan="3">
                  <a:txBody>
                    <a:bodyPr wrap="none"/>
                    <a:lstStyle/>
                    <a:p>
                      <a:pPr algn="l"/>
                      <a:r>
                        <a:rPr sz="1150" b="1" spc="40">
                          <a:solidFill>
                            <a:srgbClr val="4A5263"/>
                          </a:solidFill>
                          <a:latin typeface="Inter"/>
                        </a:rPr>
                        <a:t>Length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 gridSpan="5">
                  <a:txBody>
                    <a:bodyPr wrap="none"/>
                    <a:lstStyle/>
                    <a:p>
                      <a:pPr algn="ctr"/>
                      <a:r>
                        <a:rPr sz="1250" b="1" spc="20">
                          <a:solidFill>
                            <a:srgbClr val="2A6FB0"/>
                          </a:solidFill>
                          <a:latin typeface="Inter"/>
                        </a:rPr>
                        <a:t>Samtec TCF-3450F</a:t>
                      </a:r>
                    </a:p>
                  </a:txBody>
                  <a:tcPr anchor="ctr" marL="100584" marR="100584" marT="18288" marB="18288">
                    <a:lnB w="19050" cap="flat" cmpd="sng" algn="ctr">
                      <a:solidFill>
                        <a:srgbClr val="9FB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gridSpan="5">
                  <a:txBody>
                    <a:bodyPr wrap="none"/>
                    <a:lstStyle/>
                    <a:p>
                      <a:pPr algn="ctr"/>
                      <a:r>
                        <a:rPr sz="1250" b="1" spc="20">
                          <a:solidFill>
                            <a:srgbClr val="B9701A"/>
                          </a:solidFill>
                          <a:latin typeface="Inter"/>
                        </a:rPr>
                        <a:t>NEW N12-42M-100006-1</a:t>
                      </a:r>
                    </a:p>
                  </a:txBody>
                  <a:tcPr anchor="ctr" marL="100584" marR="100584" marT="18288" marB="18288">
                    <a:lnB w="19050" cap="flat" cmpd="sng" algn="ctr">
                      <a:solidFill>
                        <a:srgbClr val="E0BF9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40" b="0">
                          <a:solidFill>
                            <a:srgbClr val="8A93A6"/>
                          </a:solidFill>
                          <a:latin typeface="JetBrains Mono"/>
                        </a:rPr>
                        <a:t>LOSS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 gridSpan="2">
                  <a:txBody>
                    <a:bodyPr wrap="none"/>
                    <a:lstStyle/>
                    <a:p>
                      <a:pPr algn="ctr"/>
                      <a:r>
                        <a:rPr sz="840" b="0">
                          <a:solidFill>
                            <a:srgbClr val="8A93A6"/>
                          </a:solidFill>
                          <a:latin typeface="JetBrains Mono"/>
                        </a:rPr>
                        <a:t>Q̇ PER CABLE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8A93A6"/>
                          </a:solidFill>
                          <a:latin typeface="JetBrains Mono"/>
                        </a:rPr>
                        <a:t>208 (13 CABLES OF 16 LINES)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40" b="0">
                          <a:solidFill>
                            <a:srgbClr val="8A93A6"/>
                          </a:solidFill>
                          <a:latin typeface="JetBrains Mono"/>
                        </a:rPr>
                        <a:t>LOSS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 gridSpan="2">
                  <a:txBody>
                    <a:bodyPr wrap="none"/>
                    <a:lstStyle/>
                    <a:p>
                      <a:pPr algn="ctr"/>
                      <a:r>
                        <a:rPr sz="840" b="0">
                          <a:solidFill>
                            <a:srgbClr val="8A93A6"/>
                          </a:solidFill>
                          <a:latin typeface="JetBrains Mono"/>
                        </a:rPr>
                        <a:t>Q̇ PER CABLE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8A93A6"/>
                          </a:solidFill>
                          <a:latin typeface="JetBrains Mono"/>
                        </a:rPr>
                        <a:t>208 (13 CABLES OF 16 LINES)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F7F9FC"/>
                    </a:solidFill>
                  </a:tcPr>
                </a:tc>
              </a:tr>
              <a:tr h="310896">
                <a:tc vMerge="1">
                  <a:txBody>
                    <a:bodyPr/>
                    <a:lstStyle/>
                    <a:p/>
                  </a:txBody>
                  <a:tcPr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2 GHz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40→4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 spc="30">
                          <a:solidFill>
                            <a:srgbClr val="8A93A6"/>
                          </a:solidFill>
                          <a:latin typeface="JetBrains Mono"/>
                        </a:rPr>
                        <a:t>4→1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40→4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 spc="30">
                          <a:solidFill>
                            <a:srgbClr val="8A93A6"/>
                          </a:solidFill>
                          <a:latin typeface="JetBrains Mono"/>
                        </a:rPr>
                        <a:t>4→1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2 GHz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40→4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 spc="30">
                          <a:solidFill>
                            <a:srgbClr val="8A93A6"/>
                          </a:solidFill>
                          <a:latin typeface="JetBrains Mono"/>
                        </a:rPr>
                        <a:t>4→1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 spc="30">
                          <a:solidFill>
                            <a:srgbClr val="4A5263"/>
                          </a:solidFill>
                          <a:latin typeface="JetBrains Mono"/>
                        </a:rPr>
                        <a:t>40→4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 spc="30">
                          <a:solidFill>
                            <a:srgbClr val="8A93A6"/>
                          </a:solidFill>
                          <a:latin typeface="JetBrains Mono"/>
                        </a:rPr>
                        <a:t>4→1 K</a:t>
                      </a:r>
                    </a:p>
                  </a:txBody>
                  <a:tcPr anchor="ctr" marL="100584" marR="100584" marT="18288" marB="18288">
                    <a:lnB w="12700" cap="flat" cmpd="sng" algn="ctr">
                      <a:solidFill>
                        <a:srgbClr val="E2E6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161B24"/>
                          </a:solidFill>
                          <a:latin typeface="Inter"/>
                        </a:rPr>
                        <a:t>3″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0.049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35.3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566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7.35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W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117.6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0.335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533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5.1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110.9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1.06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161B24"/>
                          </a:solidFill>
                          <a:latin typeface="Inter"/>
                        </a:rPr>
                        <a:t>5″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0.081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21.2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339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4.41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70.6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0.558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320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3.1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66.6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636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161B24"/>
                          </a:solidFill>
                          <a:latin typeface="Inter"/>
                        </a:rPr>
                        <a:t>10″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0.162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10.6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170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2.20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35.3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1.12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160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1.5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33.3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318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161B24"/>
                          </a:solidFill>
                          <a:latin typeface="Inter"/>
                        </a:rPr>
                        <a:t>15″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0.243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7.07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113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1.47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23.5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1.67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107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1.0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22.2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212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250" b="1">
                          <a:solidFill>
                            <a:srgbClr val="161B24"/>
                          </a:solidFill>
                          <a:latin typeface="Inter"/>
                        </a:rPr>
                        <a:t>18″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0.291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5.89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94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1.22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19.6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2.01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dB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50" b="0">
                          <a:solidFill>
                            <a:srgbClr val="4A5263"/>
                          </a:solidFill>
                          <a:latin typeface="JetBrains Mono"/>
                        </a:rPr>
                        <a:t>89</a:t>
                      </a:r>
                      <a:r>
                        <a:rPr sz="827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0.8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250" b="1">
                          <a:solidFill>
                            <a:srgbClr val="161B24"/>
                          </a:solidFill>
                          <a:latin typeface="JetBrains Mono"/>
                        </a:rPr>
                        <a:t>18.5</a:t>
                      </a:r>
                      <a:r>
                        <a:rPr sz="900" b="0">
                          <a:solidFill>
                            <a:srgbClr val="8A93A6"/>
                          </a:solidFill>
                          <a:latin typeface="JetBrains Mono"/>
                        </a:rPr>
                        <a:t> mW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8A93A6"/>
                          </a:solidFill>
                          <a:latin typeface="JetBrains Mono"/>
                        </a:rPr>
                        <a:t>177</a:t>
                      </a:r>
                      <a:r>
                        <a:rPr sz="792" b="0">
                          <a:solidFill>
                            <a:srgbClr val="8A93A6"/>
                          </a:solidFill>
                          <a:latin typeface="JetBrains Mono"/>
                        </a:rPr>
                        <a:t> µW</a:t>
                      </a:r>
                    </a:p>
                  </a:txBody>
                  <a:tcPr anchor="ctr" marL="100584" marR="100584" marT="18288" marB="18288">
                    <a:lnT w="9525" cap="flat" cmpd="sng" algn="ctr">
                      <a:solidFill>
                        <a:srgbClr val="E2E6EC"/>
                      </a:solidFill>
                      <a:prstDash val="solid"/>
                    </a:lnT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888736"/>
            <a:ext cx="11058144" cy="95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035040"/>
            <a:ext cx="110581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80" b="0" i="0">
                <a:solidFill>
                  <a:srgbClr val="8A93A6"/>
                </a:solidFill>
                <a:latin typeface="Inter"/>
              </a:rPr>
              <a:t>Insertion loss quoted at 2 GHz, 4–40 K stage — see the per-length slides for the 4 GHz figures. Heat load is the conducted </a:t>
            </a:r>
            <a:r>
              <a:rPr sz="780" b="0" i="0">
                <a:solidFill>
                  <a:srgbClr val="8A93A6"/>
                </a:solidFill>
                <a:latin typeface="JetBrains Mono"/>
              </a:rPr>
              <a:t>Q̇</a:t>
            </a:r>
            <a:r>
              <a:rPr sz="780" b="0" i="0">
                <a:solidFill>
                  <a:srgbClr val="8A93A6"/>
                </a:solidFill>
                <a:latin typeface="Inter"/>
              </a:rPr>
              <a:t> across each stage's ΔT, shown per cable and for the full harness (208 (13 cables of 16 lines)). The bundle columns are the per-cable figure × 208; they are the ones that set the cryostat budget.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